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8" r:id="rId3"/>
    <p:sldId id="259" r:id="rId4"/>
    <p:sldId id="260" r:id="rId5"/>
    <p:sldId id="263" r:id="rId6"/>
    <p:sldId id="297" r:id="rId7"/>
    <p:sldId id="298" r:id="rId8"/>
    <p:sldId id="315" r:id="rId9"/>
    <p:sldId id="299" r:id="rId10"/>
    <p:sldId id="313" r:id="rId11"/>
    <p:sldId id="294" r:id="rId12"/>
    <p:sldId id="295" r:id="rId13"/>
    <p:sldId id="314"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296" r:id="rId27"/>
    <p:sldId id="273" r:id="rId28"/>
    <p:sldId id="300" r:id="rId29"/>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ndurangan"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90" d="100"/>
          <a:sy n="90" d="100"/>
        </p:scale>
        <p:origin x="119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710741E0-EBDC-4684-A124-E61FA137F995}" type="datetimeFigureOut">
              <a:rPr lang="en-IN" smtClean="0"/>
              <a:t>08-05-2026</a:t>
            </a:fld>
            <a:endParaRPr lang="en-IN"/>
          </a:p>
        </p:txBody>
      </p:sp>
      <p:sp>
        <p:nvSpPr>
          <p:cNvPr id="4" name="Slide Image Placeholder 3"/>
          <p:cNvSpPr>
            <a:spLocks noGrp="1" noRot="1" noChangeAspect="1"/>
          </p:cNvSpPr>
          <p:nvPr>
            <p:ph type="sldImg" idx="2"/>
          </p:nvPr>
        </p:nvSpPr>
        <p:spPr>
          <a:xfrm>
            <a:off x="1624013" y="1257300"/>
            <a:ext cx="4524375" cy="33940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2A10A3B8-B5BB-4616-A832-1C04CDBC36E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A10A3B8-B5BB-4616-A832-1C04CDBC36EB}"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ECFAF87C-86EE-423C-A0EB-AC12C68C318C}"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
        <p:nvSpPr>
          <p:cNvPr id="6" name="PlaceHolder 5"/>
          <p:cNvSpPr>
            <a:spLocks noGrp="1"/>
          </p:cNvSpPr>
          <p:nvPr>
            <p:ph type="body" hasCustomPrompt="1"/>
          </p:nvPr>
        </p:nvSpPr>
        <p:spPr>
          <a:xfrm>
            <a:off x="457200" y="1604520"/>
            <a:ext cx="822924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Click to edit the outline text format</a:t>
            </a:r>
          </a:p>
          <a:p>
            <a:pPr marL="864235" lvl="1" indent="-323850">
              <a:spcBef>
                <a:spcPts val="1135"/>
              </a:spcBef>
              <a:buClr>
                <a:srgbClr val="000000"/>
              </a:buClr>
              <a:buSzPct val="75000"/>
              <a:buFont typeface="Symbol" panose="05050102010706020507" charset="2"/>
              <a:buChar char=""/>
            </a:pPr>
            <a:r>
              <a:rPr lang="en-US" sz="2400" b="0" u="none" strike="noStrike">
                <a:solidFill>
                  <a:schemeClr val="dk1"/>
                </a:solidFill>
                <a:effectLst/>
                <a:uFillTx/>
                <a:latin typeface="Calibri" panose="020F0502020204030204"/>
              </a:rPr>
              <a:t>Second Outline Level</a:t>
            </a:r>
          </a:p>
          <a:p>
            <a:pPr marL="1296035" lvl="2" indent="-288290">
              <a:spcBef>
                <a:spcPts val="850"/>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Third Outline Level</a:t>
            </a:r>
          </a:p>
          <a:p>
            <a:pPr marL="1727835" lvl="3" indent="-215900">
              <a:spcBef>
                <a:spcPts val="565"/>
              </a:spcBef>
              <a:buClr>
                <a:srgbClr val="000000"/>
              </a:buClr>
              <a:buSzPct val="75000"/>
              <a:buFont typeface="Symbol" panose="05050102010706020507" charset="2"/>
              <a:buChar char=""/>
            </a:pPr>
            <a:r>
              <a:rPr lang="en-US" sz="2000" b="0" u="none" strike="noStrike">
                <a:solidFill>
                  <a:schemeClr val="dk1"/>
                </a:solidFill>
                <a:effectLst/>
                <a:uFillTx/>
                <a:latin typeface="Calibri" panose="020F0502020204030204"/>
              </a:rPr>
              <a:t>Fourth Outline Level</a:t>
            </a:r>
          </a:p>
          <a:p>
            <a:pPr marL="2160270" lvl="4"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Fifth Outline Level</a:t>
            </a:r>
          </a:p>
          <a:p>
            <a:pPr marL="2592070" lvl="5"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Sixth Outline Level</a:t>
            </a:r>
          </a:p>
          <a:p>
            <a:pPr marL="3023870" lvl="6"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8"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p>
        </p:txBody>
      </p:sp>
      <p:sp>
        <p:nvSpPr>
          <p:cNvPr id="9"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10"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1"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CFDA1527-8DD4-4735-B84F-9560C161AB29}"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13"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p>
        </p:txBody>
      </p:sp>
      <p:sp>
        <p:nvSpPr>
          <p:cNvPr id="14"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15"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6"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1EBFD162-1679-465A-89B8-6B0441F38B24}"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18"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p>
        </p:txBody>
      </p:sp>
      <p:sp>
        <p:nvSpPr>
          <p:cNvPr id="19"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20"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1"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8C2B7746-C8BE-44FE-BC25-AB692834FD0A}"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914400">
              <a:lnSpc>
                <a:spcPct val="100000"/>
              </a:lnSpc>
              <a:buNone/>
            </a:pPr>
            <a:r>
              <a:rPr lang="en-US" sz="4000" b="1" u="none" strike="noStrike" cap="all">
                <a:solidFill>
                  <a:schemeClr val="dk1"/>
                </a:solidFill>
                <a:effectLst/>
                <a:uFillTx/>
                <a:latin typeface="Calibri" panose="020F0502020204030204"/>
              </a:rPr>
              <a:t>Click to edit Master title style</a:t>
            </a:r>
            <a:endParaRPr lang="en-US" sz="4000" b="0" u="none" strike="noStrike">
              <a:solidFill>
                <a:schemeClr val="dk1"/>
              </a:solidFill>
              <a:effectLst/>
              <a:uFillTx/>
              <a:latin typeface="Calibri" panose="020F0502020204030204"/>
            </a:endParaRPr>
          </a:p>
        </p:txBody>
      </p:sp>
      <p:sp>
        <p:nvSpPr>
          <p:cNvPr id="23"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panose="020F0502020204030204"/>
              </a:rPr>
              <a:t>Click to edit Master text styles</a:t>
            </a:r>
            <a:endParaRPr lang="en-US" sz="2000" b="0" u="none" strike="noStrike">
              <a:solidFill>
                <a:schemeClr val="dk1"/>
              </a:solidFill>
              <a:effectLst/>
              <a:uFillTx/>
              <a:latin typeface="Calibri" panose="020F0502020204030204"/>
            </a:endParaRPr>
          </a:p>
        </p:txBody>
      </p:sp>
      <p:sp>
        <p:nvSpPr>
          <p:cNvPr id="24"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25"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6"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C17306D3-EEC6-40CA-882D-ACB845A55496}"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28"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2900" indent="-34290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p>
          <a:p>
            <a:pPr marL="1143000" lvl="2"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p>
          <a:p>
            <a:pPr marL="1600200" lvl="3"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p>
          <a:p>
            <a:pPr marL="2057400" lvl="4"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p>
        </p:txBody>
      </p:sp>
      <p:sp>
        <p:nvSpPr>
          <p:cNvPr id="29"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2900" indent="-34290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p>
          <a:p>
            <a:pPr marL="1143000" lvl="2"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p>
          <a:p>
            <a:pPr marL="1600200" lvl="3"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p>
          <a:p>
            <a:pPr marL="2057400" lvl="4"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p>
        </p:txBody>
      </p:sp>
      <p:sp>
        <p:nvSpPr>
          <p:cNvPr id="30"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31"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2"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3EF5EA31-B84D-4A99-9DBF-22ACA6FED74A}"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34"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914400">
              <a:lnSpc>
                <a:spcPct val="100000"/>
              </a:lnSpc>
              <a:spcBef>
                <a:spcPts val="48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5"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2900" indent="-3429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Second level</a:t>
            </a:r>
          </a:p>
          <a:p>
            <a:pPr marL="1143000" lvl="2"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Third level</a:t>
            </a:r>
          </a:p>
          <a:p>
            <a:pPr marL="1600200" lvl="3"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Fourth level</a:t>
            </a:r>
          </a:p>
          <a:p>
            <a:pPr marL="2057400" lvl="4"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Fifth level</a:t>
            </a:r>
          </a:p>
        </p:txBody>
      </p:sp>
      <p:sp>
        <p:nvSpPr>
          <p:cNvPr id="36"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914400">
              <a:lnSpc>
                <a:spcPct val="100000"/>
              </a:lnSpc>
              <a:spcBef>
                <a:spcPts val="48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7"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2900" indent="-3429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Second level</a:t>
            </a:r>
          </a:p>
          <a:p>
            <a:pPr marL="1143000" lvl="2"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Third level</a:t>
            </a:r>
          </a:p>
          <a:p>
            <a:pPr marL="1600200" lvl="3"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Fourth level</a:t>
            </a:r>
          </a:p>
          <a:p>
            <a:pPr marL="2057400" lvl="4"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Fifth level</a:t>
            </a:r>
          </a:p>
        </p:txBody>
      </p:sp>
      <p:sp>
        <p:nvSpPr>
          <p:cNvPr id="38"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39"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0"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B987DDE7-A9F9-48B7-875F-531F3DA08519}"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u="none" strike="noStrike">
                <a:solidFill>
                  <a:schemeClr val="dk1"/>
                </a:solidFill>
                <a:effectLst/>
                <a:uFillTx/>
                <a:latin typeface="Calibri" panose="020F0502020204030204"/>
              </a:rPr>
              <a:t>Click to edit Master title style</a:t>
            </a:r>
          </a:p>
        </p:txBody>
      </p:sp>
      <p:sp>
        <p:nvSpPr>
          <p:cNvPr id="42"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43"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4"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66DB3841-4791-401F-89E8-256CD838B25A}"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46"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7"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AD603868-8EEC-4A10-AD6D-6E83209EFD3F}"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914400">
              <a:lnSpc>
                <a:spcPct val="100000"/>
              </a:lnSpc>
              <a:buNone/>
            </a:pPr>
            <a:r>
              <a:rPr lang="en-US" sz="2000" b="1" u="none" strike="noStrike">
                <a:solidFill>
                  <a:schemeClr val="dk1"/>
                </a:solidFill>
                <a:effectLst/>
                <a:uFillTx/>
                <a:latin typeface="Calibri" panose="020F0502020204030204"/>
              </a:rPr>
              <a:t>Click to edit Master title style</a:t>
            </a:r>
            <a:endParaRPr lang="en-US" sz="2000" b="0" u="none" strike="noStrike">
              <a:solidFill>
                <a:schemeClr val="dk1"/>
              </a:solidFill>
              <a:effectLst/>
              <a:uFillTx/>
              <a:latin typeface="Calibri" panose="020F0502020204030204"/>
            </a:endParaRPr>
          </a:p>
        </p:txBody>
      </p:sp>
      <p:sp>
        <p:nvSpPr>
          <p:cNvPr id="49"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p>
        </p:txBody>
      </p:sp>
      <p:sp>
        <p:nvSpPr>
          <p:cNvPr id="50"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914400">
              <a:lnSpc>
                <a:spcPct val="100000"/>
              </a:lnSpc>
              <a:spcBef>
                <a:spcPts val="280"/>
              </a:spcBef>
              <a:buNone/>
              <a:tabLst>
                <a:tab pos="0" algn="l"/>
              </a:tabLst>
            </a:pPr>
            <a:r>
              <a:rPr lang="en-US" sz="1400" b="0" u="none" strike="noStrike">
                <a:solidFill>
                  <a:schemeClr val="dk1"/>
                </a:solidFill>
                <a:effectLst/>
                <a:uFillTx/>
                <a:latin typeface="Calibri" panose="020F0502020204030204"/>
              </a:rPr>
              <a:t>Click to edit Master text styles</a:t>
            </a:r>
          </a:p>
        </p:txBody>
      </p:sp>
      <p:sp>
        <p:nvSpPr>
          <p:cNvPr id="51"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52"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3"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C37E2F6A-29CD-4336-AB48-5FA5740C560B}"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914400">
              <a:lnSpc>
                <a:spcPct val="100000"/>
              </a:lnSpc>
              <a:buNone/>
            </a:pPr>
            <a:r>
              <a:rPr lang="en-US" sz="2000" b="1" u="none" strike="noStrike">
                <a:solidFill>
                  <a:schemeClr val="dk1"/>
                </a:solidFill>
                <a:effectLst/>
                <a:uFillTx/>
                <a:latin typeface="Calibri" panose="020F0502020204030204"/>
              </a:rPr>
              <a:t>Click to edit Master title style</a:t>
            </a:r>
            <a:endParaRPr lang="en-US" sz="2000" b="0" u="none" strike="noStrike">
              <a:solidFill>
                <a:schemeClr val="dk1"/>
              </a:solidFill>
              <a:effectLst/>
              <a:uFillTx/>
              <a:latin typeface="Calibri" panose="020F0502020204030204"/>
            </a:endParaRPr>
          </a:p>
        </p:txBody>
      </p:sp>
      <p:sp>
        <p:nvSpPr>
          <p:cNvPr id="55" name="PlaceHolder 2"/>
          <p:cNvSpPr>
            <a:spLocks noGrp="1"/>
          </p:cNvSpPr>
          <p:nvPr>
            <p:ph type="body" hasCustomPrompt="1"/>
          </p:nvPr>
        </p:nvSpPr>
        <p:spPr>
          <a:xfrm>
            <a:off x="1792440" y="612720"/>
            <a:ext cx="5486040" cy="4114440"/>
          </a:xfrm>
          <a:prstGeom prst="rect">
            <a:avLst/>
          </a:prstGeom>
          <a:noFill/>
          <a:ln w="0">
            <a:noFill/>
          </a:ln>
        </p:spPr>
        <p:txBody>
          <a:bodyPr lIns="90000" tIns="45000" rIns="90000" bIns="45000" anchor="t">
            <a:no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Click to edit the outline text format</a:t>
            </a:r>
          </a:p>
          <a:p>
            <a:pPr marL="864235" lvl="1" indent="-323850">
              <a:spcBef>
                <a:spcPts val="1135"/>
              </a:spcBef>
              <a:buClr>
                <a:srgbClr val="000000"/>
              </a:buClr>
              <a:buSzPct val="75000"/>
              <a:buFont typeface="Symbol" panose="05050102010706020507" charset="2"/>
              <a:buChar char=""/>
            </a:pPr>
            <a:r>
              <a:rPr lang="en-US" sz="3200" b="0" u="none" strike="noStrike">
                <a:solidFill>
                  <a:schemeClr val="dk1"/>
                </a:solidFill>
                <a:effectLst/>
                <a:uFillTx/>
                <a:latin typeface="Calibri" panose="020F0502020204030204"/>
              </a:rPr>
              <a:t>Second Outline Level</a:t>
            </a:r>
          </a:p>
          <a:p>
            <a:pPr marL="1296035" lvl="2" indent="-288290">
              <a:spcBef>
                <a:spcPts val="850"/>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Third Outline Level</a:t>
            </a:r>
          </a:p>
          <a:p>
            <a:pPr marL="1727835" lvl="3" indent="-215900">
              <a:spcBef>
                <a:spcPts val="565"/>
              </a:spcBef>
              <a:buClr>
                <a:srgbClr val="000000"/>
              </a:buClr>
              <a:buSzPct val="75000"/>
              <a:buFont typeface="Symbol" panose="05050102010706020507" charset="2"/>
              <a:buChar char=""/>
            </a:pPr>
            <a:r>
              <a:rPr lang="en-US" sz="3200" b="0" u="none" strike="noStrike">
                <a:solidFill>
                  <a:schemeClr val="dk1"/>
                </a:solidFill>
                <a:effectLst/>
                <a:uFillTx/>
                <a:latin typeface="Calibri" panose="020F0502020204030204"/>
              </a:rPr>
              <a:t>Fourth Outline Level</a:t>
            </a:r>
          </a:p>
          <a:p>
            <a:pPr marL="2160270" lvl="4" indent="-215900">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Fifth Outline Level</a:t>
            </a:r>
          </a:p>
          <a:p>
            <a:pPr marL="2592070" lvl="5" indent="-215900">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Sixth Outline Level</a:t>
            </a:r>
          </a:p>
          <a:p>
            <a:pPr marL="3023870" lvl="6" indent="-215900">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Seventh Outline Level</a:t>
            </a:r>
          </a:p>
        </p:txBody>
      </p:sp>
      <p:sp>
        <p:nvSpPr>
          <p:cNvPr id="56"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914400">
              <a:lnSpc>
                <a:spcPct val="100000"/>
              </a:lnSpc>
              <a:spcBef>
                <a:spcPts val="280"/>
              </a:spcBef>
              <a:buNone/>
              <a:tabLst>
                <a:tab pos="0" algn="l"/>
              </a:tabLst>
            </a:pPr>
            <a:r>
              <a:rPr lang="en-US" sz="1400" b="0" u="none" strike="noStrike">
                <a:solidFill>
                  <a:schemeClr val="dk1"/>
                </a:solidFill>
                <a:effectLst/>
                <a:uFillTx/>
                <a:latin typeface="Calibri" panose="020F0502020204030204"/>
              </a:rPr>
              <a:t>Click to edit Master text styles</a:t>
            </a:r>
          </a:p>
        </p:txBody>
      </p:sp>
      <p:sp>
        <p:nvSpPr>
          <p:cNvPr id="57"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pPr>
            <a:r>
              <a:rPr lang="en-US" sz="1200" b="0" u="none" strike="noStrike">
                <a:solidFill>
                  <a:schemeClr val="dk1">
                    <a:tint val="75000"/>
                  </a:schemeClr>
                </a:solidFill>
                <a:effectLst/>
                <a:uFillTx/>
                <a:latin typeface="Calibri" panose="020F0502020204030204"/>
              </a:rPr>
              <a:t>&lt;date/time&gt;</a:t>
            </a:r>
            <a:endParaRPr lang="en-US" sz="1200" b="0" u="none" strike="noStrike">
              <a:solidFill>
                <a:srgbClr val="000000"/>
              </a:solidFill>
              <a:effectLst/>
              <a:uFillTx/>
              <a:latin typeface="Times New Roman" panose="02020603050405020304"/>
            </a:endParaRPr>
          </a:p>
        </p:txBody>
      </p:sp>
      <p:sp>
        <p:nvSpPr>
          <p:cNvPr id="58"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9"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pPr>
            <a:fld id="{4DC49BBE-27AA-49C7-A675-CE5125AEBB78}" type="slidenum">
              <a:rPr lang="en-US" sz="1200" b="0" u="none" strike="noStrike">
                <a:solidFill>
                  <a:schemeClr val="dk1">
                    <a:tint val="75000"/>
                  </a:schemeClr>
                </a:solidFill>
                <a:effectLst/>
                <a:uFillTx/>
                <a:latin typeface="Calibri" panose="020F05020202040302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955880" y="469800"/>
            <a:ext cx="6806880" cy="1329840"/>
          </a:xfrm>
          <a:prstGeom prst="rect">
            <a:avLst/>
          </a:prstGeom>
          <a:noFill/>
          <a:ln w="0">
            <a:noFill/>
          </a:ln>
        </p:spPr>
        <p:txBody>
          <a:bodyPr lIns="91440" tIns="45720" rIns="91440" bIns="45720" anchor="ctr">
            <a:noAutofit/>
          </a:bodyPr>
          <a:lstStyle/>
          <a:p>
            <a:pPr algn="ctr">
              <a:lnSpc>
                <a:spcPct val="100000"/>
              </a:lnSpc>
            </a:pPr>
            <a:r>
              <a:rPr lang="en-US" sz="2000" b="1" u="none" strike="noStrike" dirty="0">
                <a:solidFill>
                  <a:schemeClr val="dk1"/>
                </a:solidFill>
                <a:effectLst/>
                <a:uFillTx/>
                <a:latin typeface="Times New Roman" panose="02020603050405020304"/>
              </a:rPr>
              <a:t>SRM INSTITUTE OF SCIENCE AND TECHNOLOGY</a:t>
            </a:r>
            <a:br>
              <a:rPr sz="1800" dirty="0"/>
            </a:br>
            <a:r>
              <a:rPr lang="en-US" sz="1800" b="1" u="none" strike="noStrike" dirty="0">
                <a:solidFill>
                  <a:schemeClr val="dk1"/>
                </a:solidFill>
                <a:effectLst/>
                <a:uFillTx/>
                <a:latin typeface="Times New Roman" panose="02020603050405020304"/>
              </a:rPr>
              <a:t>Ramapuram , Chennai – 600 089</a:t>
            </a:r>
            <a:br>
              <a:rPr lang="en-US" sz="1800" b="1" u="none" strike="noStrike" dirty="0">
                <a:solidFill>
                  <a:schemeClr val="dk1"/>
                </a:solidFill>
                <a:effectLst/>
                <a:uFillTx/>
                <a:latin typeface="Times New Roman" panose="02020603050405020304"/>
              </a:rPr>
            </a:br>
            <a:r>
              <a:rPr lang="en-US" altLang="en-US" sz="1800" b="1" dirty="0">
                <a:latin typeface="Times New Roman" panose="02020603050405020304" pitchFamily="18" charset="0"/>
                <a:ea typeface="Times New Roman" panose="02020603050405020304" pitchFamily="18" charset="0"/>
                <a:cs typeface="Times New Roman" panose="02020603050405020304" pitchFamily="18" charset="0"/>
              </a:rPr>
              <a:t>FACULTY OF ENGINEERING AND TECHNOLOGY</a:t>
            </a:r>
            <a:br>
              <a:rPr lang="en-US" altLang="en-US" sz="800" dirty="0"/>
            </a:br>
            <a:r>
              <a:rPr lang="en-US" altLang="en-US" sz="1800" b="1" dirty="0">
                <a:latin typeface="Book Antiqua" panose="02040602050305030304" pitchFamily="18" charset="0"/>
                <a:ea typeface="Times New Roman" panose="02020603050405020304" pitchFamily="18" charset="0"/>
                <a:cs typeface="Calibri" panose="020F0502020204030204" pitchFamily="34" charset="0"/>
              </a:rPr>
              <a:t>DEPARTMENT OF ECE</a:t>
            </a:r>
            <a:br>
              <a:rPr lang="en-US" sz="1600" b="1" dirty="0">
                <a:solidFill>
                  <a:schemeClr val="dk1"/>
                </a:solidFill>
                <a:latin typeface="Times New Roman" panose="02020603050405020304"/>
              </a:rPr>
            </a:br>
            <a:endParaRPr lang="en-US" sz="1600" b="0" u="none" strike="noStrike" dirty="0">
              <a:solidFill>
                <a:schemeClr val="dk1"/>
              </a:solidFill>
              <a:effectLst/>
              <a:uFillTx/>
              <a:latin typeface="Calibri" panose="020F0502020204030204"/>
            </a:endParaRPr>
          </a:p>
        </p:txBody>
      </p:sp>
      <p:sp>
        <p:nvSpPr>
          <p:cNvPr id="61" name="PlaceHolder 2"/>
          <p:cNvSpPr>
            <a:spLocks noGrp="1"/>
          </p:cNvSpPr>
          <p:nvPr>
            <p:ph type="subTitle"/>
          </p:nvPr>
        </p:nvSpPr>
        <p:spPr>
          <a:xfrm>
            <a:off x="419400" y="1669950"/>
            <a:ext cx="8076960" cy="856675"/>
          </a:xfrm>
          <a:prstGeom prst="rect">
            <a:avLst/>
          </a:prstGeom>
          <a:noFill/>
          <a:ln w="0">
            <a:noFill/>
          </a:ln>
        </p:spPr>
        <p:txBody>
          <a:bodyPr lIns="91440" tIns="45720" rIns="91440" bIns="45720" anchor="t">
            <a:noAutofit/>
          </a:bodyPr>
          <a:lstStyle/>
          <a:p>
            <a:pPr indent="0" algn="ctr" defTabSz="914400">
              <a:lnSpc>
                <a:spcPct val="100000"/>
              </a:lnSpc>
              <a:spcBef>
                <a:spcPts val="480"/>
              </a:spcBef>
              <a:buNone/>
              <a:tabLst>
                <a:tab pos="0" algn="l"/>
              </a:tabLst>
            </a:pPr>
            <a:r>
              <a:rPr lang="en-IN" sz="2400" b="0" u="none" strike="noStrike" dirty="0">
                <a:solidFill>
                  <a:schemeClr val="dk1"/>
                </a:solidFill>
                <a:effectLst/>
                <a:uFillTx/>
                <a:latin typeface="Calibri" panose="020F0502020204030204"/>
              </a:rPr>
              <a:t>MAJOR PROJECT</a:t>
            </a:r>
          </a:p>
          <a:p>
            <a:pPr indent="0" algn="ctr" defTabSz="914400">
              <a:lnSpc>
                <a:spcPct val="100000"/>
              </a:lnSpc>
              <a:spcBef>
                <a:spcPts val="480"/>
              </a:spcBef>
              <a:buNone/>
              <a:tabLst>
                <a:tab pos="0" algn="l"/>
              </a:tabLst>
            </a:pPr>
            <a:r>
              <a:rPr lang="en-IN" sz="2400" dirty="0">
                <a:solidFill>
                  <a:schemeClr val="dk1"/>
                </a:solidFill>
                <a:latin typeface="Calibri" panose="020F0502020204030204"/>
              </a:rPr>
              <a:t>PROJECT EVALUATION – FINAL REVIEW</a:t>
            </a:r>
            <a:endParaRPr lang="en-US" sz="2400" b="0" u="none" strike="noStrike" dirty="0">
              <a:solidFill>
                <a:srgbClr val="000000"/>
              </a:solidFill>
              <a:effectLst/>
              <a:uFillTx/>
              <a:latin typeface="Arial" panose="020B0604020202020204"/>
            </a:endParaRPr>
          </a:p>
          <a:p>
            <a:pPr indent="0" algn="ctr" defTabSz="914400">
              <a:lnSpc>
                <a:spcPct val="100000"/>
              </a:lnSpc>
              <a:spcBef>
                <a:spcPts val="640"/>
              </a:spcBef>
              <a:buNone/>
              <a:tabLst>
                <a:tab pos="0" algn="l"/>
              </a:tabLst>
            </a:pPr>
            <a:endParaRPr lang="en-US" sz="3200" b="0" u="none" strike="noStrike" dirty="0">
              <a:solidFill>
                <a:srgbClr val="000000"/>
              </a:solidFill>
              <a:effectLst/>
              <a:uFillTx/>
              <a:latin typeface="Arial" panose="020B0604020202020204"/>
            </a:endParaRPr>
          </a:p>
          <a:p>
            <a:pPr indent="0" algn="ctr" defTabSz="914400">
              <a:lnSpc>
                <a:spcPct val="100000"/>
              </a:lnSpc>
              <a:spcBef>
                <a:spcPts val="640"/>
              </a:spcBef>
              <a:buNone/>
              <a:tabLst>
                <a:tab pos="0" algn="l"/>
              </a:tabLst>
            </a:pPr>
            <a:r>
              <a:rPr lang="en-US" altLang="en-US" sz="2000" b="1" u="none" strike="noStrike" dirty="0">
                <a:solidFill>
                  <a:srgbClr val="000000"/>
                </a:solidFill>
                <a:effectLst/>
                <a:uFillTx/>
                <a:latin typeface="Arial" panose="020B0604020202020204"/>
              </a:rPr>
              <a:t>IMAGE TRANSMISSION BASED OFDM CHANNEL ESTIMATION OVER DWT BASED CARRIER MODULATION TECHNIQUE</a:t>
            </a:r>
          </a:p>
        </p:txBody>
      </p:sp>
      <p:sp>
        <p:nvSpPr>
          <p:cNvPr id="62" name="Subtitle 2"/>
          <p:cNvSpPr/>
          <p:nvPr/>
        </p:nvSpPr>
        <p:spPr>
          <a:xfrm>
            <a:off x="1204451" y="2556415"/>
            <a:ext cx="6400165" cy="104721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spcBef>
                <a:spcPts val="640"/>
              </a:spcBef>
              <a:tabLst>
                <a:tab pos="0" algn="l"/>
              </a:tabLst>
            </a:pPr>
            <a:r>
              <a:rPr lang="en-US" sz="2000" b="0" u="none" strike="noStrike" dirty="0">
                <a:solidFill>
                  <a:schemeClr val="dk1"/>
                </a:solidFill>
                <a:effectLst/>
                <a:uFillTx/>
                <a:latin typeface="Calibri" panose="020F0502020204030204"/>
              </a:rPr>
              <a:t>BATCH NUMBER : 10</a:t>
            </a:r>
          </a:p>
        </p:txBody>
      </p:sp>
      <p:graphicFrame>
        <p:nvGraphicFramePr>
          <p:cNvPr id="63" name="Table 5"/>
          <p:cNvGraphicFramePr/>
          <p:nvPr>
            <p:extLst>
              <p:ext uri="{D42A27DB-BD31-4B8C-83A1-F6EECF244321}">
                <p14:modId xmlns:p14="http://schemas.microsoft.com/office/powerpoint/2010/main" val="3997999652"/>
              </p:ext>
            </p:extLst>
          </p:nvPr>
        </p:nvGraphicFramePr>
        <p:xfrm>
          <a:off x="419400" y="4163940"/>
          <a:ext cx="8305200" cy="2133000"/>
        </p:xfrm>
        <a:graphic>
          <a:graphicData uri="http://schemas.openxmlformats.org/drawingml/2006/table">
            <a:tbl>
              <a:tblPr/>
              <a:tblGrid>
                <a:gridCol w="4152600">
                  <a:extLst>
                    <a:ext uri="{9D8B030D-6E8A-4147-A177-3AD203B41FA5}">
                      <a16:colId xmlns:a16="http://schemas.microsoft.com/office/drawing/2014/main" val="20000"/>
                    </a:ext>
                  </a:extLst>
                </a:gridCol>
                <a:gridCol w="4152600">
                  <a:extLst>
                    <a:ext uri="{9D8B030D-6E8A-4147-A177-3AD203B41FA5}">
                      <a16:colId xmlns:a16="http://schemas.microsoft.com/office/drawing/2014/main" val="20001"/>
                    </a:ext>
                  </a:extLst>
                </a:gridCol>
              </a:tblGrid>
              <a:tr h="383400">
                <a:tc>
                  <a:txBody>
                    <a:bodyPr/>
                    <a:lstStyle/>
                    <a:p>
                      <a:pPr defTabSz="914400">
                        <a:lnSpc>
                          <a:spcPct val="100000"/>
                        </a:lnSpc>
                      </a:pPr>
                      <a:r>
                        <a:rPr lang="en-US" sz="1800" b="1" u="none" strike="noStrike">
                          <a:solidFill>
                            <a:schemeClr val="dk1"/>
                          </a:solidFill>
                          <a:effectLst/>
                          <a:uFillTx/>
                          <a:latin typeface="Calibri" panose="020F0502020204030204"/>
                        </a:rPr>
                        <a:t>Team Members </a:t>
                      </a:r>
                      <a:endParaRPr lang="en-US" sz="1800" b="0" u="none" strike="noStrike">
                        <a:solidFill>
                          <a:srgbClr val="000000"/>
                        </a:solidFill>
                        <a:effectLst/>
                        <a:uFillTx/>
                        <a:latin typeface="Arial" panose="020B0604020202020204"/>
                      </a:endParaRPr>
                    </a:p>
                  </a:txBody>
                  <a:tcPr>
                    <a:lnL w="12240">
                      <a:solidFill>
                        <a:srgbClr val="4BACC6"/>
                      </a:solidFill>
                      <a:prstDash val="solid"/>
                    </a:lnL>
                    <a:lnR w="12240">
                      <a:solidFill>
                        <a:srgbClr val="4BACC6"/>
                      </a:solidFill>
                      <a:prstDash val="solid"/>
                    </a:lnR>
                    <a:lnT w="12240">
                      <a:solidFill>
                        <a:srgbClr val="4BACC6"/>
                      </a:solidFill>
                      <a:prstDash val="solid"/>
                    </a:lnT>
                    <a:lnB w="25200">
                      <a:solidFill>
                        <a:srgbClr val="4BACC6"/>
                      </a:solidFill>
                      <a:prstDash val="solid"/>
                    </a:lnB>
                    <a:noFill/>
                  </a:tcPr>
                </a:tc>
                <a:tc>
                  <a:txBody>
                    <a:bodyPr/>
                    <a:lstStyle/>
                    <a:p>
                      <a:pPr defTabSz="914400">
                        <a:lnSpc>
                          <a:spcPct val="100000"/>
                        </a:lnSpc>
                        <a:tabLst>
                          <a:tab pos="0" algn="l"/>
                        </a:tabLst>
                      </a:pPr>
                      <a:r>
                        <a:rPr lang="en-US" sz="1800" b="1" u="none" strike="noStrike">
                          <a:solidFill>
                            <a:schemeClr val="dk1"/>
                          </a:solidFill>
                          <a:effectLst/>
                          <a:uFillTx/>
                          <a:latin typeface="Calibri" panose="020F0502020204030204"/>
                        </a:rPr>
                        <a:t>Supervisor</a:t>
                      </a:r>
                      <a:endParaRPr lang="en-US" sz="1800" b="0" u="none" strike="noStrike">
                        <a:solidFill>
                          <a:srgbClr val="000000"/>
                        </a:solidFill>
                        <a:effectLst/>
                        <a:uFillTx/>
                        <a:latin typeface="Arial" panose="020B0604020202020204"/>
                      </a:endParaRPr>
                    </a:p>
                  </a:txBody>
                  <a:tcPr>
                    <a:lnL w="12240">
                      <a:solidFill>
                        <a:srgbClr val="4BACC6"/>
                      </a:solidFill>
                      <a:prstDash val="solid"/>
                    </a:lnL>
                    <a:lnR w="12240">
                      <a:solidFill>
                        <a:srgbClr val="4BACC6"/>
                      </a:solidFill>
                      <a:prstDash val="solid"/>
                    </a:lnR>
                    <a:lnT w="12240">
                      <a:solidFill>
                        <a:srgbClr val="4BACC6"/>
                      </a:solidFill>
                      <a:prstDash val="solid"/>
                    </a:lnT>
                    <a:lnB w="25200">
                      <a:solidFill>
                        <a:srgbClr val="4BACC6"/>
                      </a:solidFill>
                      <a:prstDash val="solid"/>
                    </a:lnB>
                    <a:noFill/>
                  </a:tcPr>
                </a:tc>
                <a:extLst>
                  <a:ext uri="{0D108BD9-81ED-4DB2-BD59-A6C34878D82A}">
                    <a16:rowId xmlns:a16="http://schemas.microsoft.com/office/drawing/2014/main" val="10000"/>
                  </a:ext>
                </a:extLst>
              </a:tr>
              <a:tr h="1749600">
                <a:tc>
                  <a:txBody>
                    <a:bodyPr/>
                    <a:lstStyle/>
                    <a:p>
                      <a:r>
                        <a:rPr lang="en-US" sz="1800" b="0" u="none" strike="noStrike" dirty="0">
                          <a:solidFill>
                            <a:schemeClr val="dk1"/>
                          </a:solidFill>
                          <a:effectLst/>
                          <a:uFillTx/>
                          <a:latin typeface="Times New Roman" panose="02020603050405020304"/>
                        </a:rPr>
                        <a:t>L.H Prajwal - RA2211004020161</a:t>
                      </a:r>
                    </a:p>
                    <a:p>
                      <a:r>
                        <a:rPr lang="en-US" sz="1800" b="0" u="none" strike="noStrike" dirty="0">
                          <a:solidFill>
                            <a:schemeClr val="dk1"/>
                          </a:solidFill>
                          <a:effectLst/>
                          <a:uFillTx/>
                          <a:latin typeface="Times New Roman" panose="02020603050405020304"/>
                        </a:rPr>
                        <a:t>B.Abhinandhan - RA2211004020170</a:t>
                      </a:r>
                    </a:p>
                    <a:p>
                      <a:r>
                        <a:rPr lang="en-US" sz="1800" b="0" u="none" strike="noStrike" dirty="0">
                          <a:solidFill>
                            <a:schemeClr val="dk1"/>
                          </a:solidFill>
                          <a:effectLst/>
                          <a:uFillTx/>
                          <a:latin typeface="Times New Roman" panose="02020603050405020304"/>
                        </a:rPr>
                        <a:t>K. Sumadhar  - RA2211004020173 </a:t>
                      </a:r>
                    </a:p>
                    <a:p>
                      <a:r>
                        <a:rPr lang="en-US" sz="1800" b="0" u="none" strike="noStrike" dirty="0">
                          <a:solidFill>
                            <a:schemeClr val="dk1"/>
                          </a:solidFill>
                          <a:effectLst/>
                          <a:uFillTx/>
                          <a:latin typeface="Times New Roman" panose="02020603050405020304"/>
                        </a:rPr>
                        <a:t>Gutta Tharun - RA2211004020198</a:t>
                      </a:r>
                    </a:p>
                  </a:txBody>
                  <a:tcPr>
                    <a:lnL w="12240">
                      <a:solidFill>
                        <a:srgbClr val="4BACC6"/>
                      </a:solidFill>
                      <a:prstDash val="solid"/>
                    </a:lnL>
                    <a:lnR w="12240">
                      <a:solidFill>
                        <a:srgbClr val="4BACC6"/>
                      </a:solidFill>
                      <a:prstDash val="solid"/>
                    </a:lnR>
                    <a:lnT w="25200" cap="flat" cmpd="sng" algn="ctr">
                      <a:solidFill>
                        <a:srgbClr val="4BACC6"/>
                      </a:solidFill>
                      <a:prstDash val="solid"/>
                      <a:round/>
                      <a:headEnd type="none" w="med" len="med"/>
                      <a:tailEnd type="none" w="med" len="med"/>
                    </a:lnT>
                    <a:lnB w="12240">
                      <a:solidFill>
                        <a:srgbClr val="4BACC6"/>
                      </a:solidFill>
                      <a:prstDash val="solid"/>
                    </a:lnB>
                    <a:solidFill>
                      <a:schemeClr val="accent5">
                        <a:alpha val="20000"/>
                      </a:schemeClr>
                    </a:solidFill>
                  </a:tcPr>
                </a:tc>
                <a:tc>
                  <a:txBody>
                    <a:bodyPr/>
                    <a:lstStyle/>
                    <a:p>
                      <a:pPr defTabSz="914400">
                        <a:lnSpc>
                          <a:spcPct val="100000"/>
                        </a:lnSpc>
                        <a:tabLst>
                          <a:tab pos="0" algn="l"/>
                        </a:tabLst>
                      </a:pPr>
                      <a:r>
                        <a:rPr lang="en-US" sz="1800" b="0" u="none" strike="noStrike" dirty="0">
                          <a:solidFill>
                            <a:schemeClr val="dk1"/>
                          </a:solidFill>
                          <a:effectLst/>
                          <a:uFillTx/>
                          <a:latin typeface="Times New Roman" panose="02020603050405020304"/>
                        </a:rPr>
                        <a:t>Name: Dr. A.MOHANBABU</a:t>
                      </a:r>
                    </a:p>
                    <a:p>
                      <a:pPr defTabSz="914400">
                        <a:lnSpc>
                          <a:spcPct val="100000"/>
                        </a:lnSpc>
                        <a:tabLst>
                          <a:tab pos="0" algn="l"/>
                        </a:tabLst>
                      </a:pPr>
                      <a:r>
                        <a:rPr lang="en-US" sz="1800" b="0" u="none" strike="noStrike" dirty="0">
                          <a:solidFill>
                            <a:schemeClr val="dk1"/>
                          </a:solidFill>
                          <a:effectLst/>
                          <a:uFillTx/>
                          <a:latin typeface="Times New Roman" panose="02020603050405020304"/>
                        </a:rPr>
                        <a:t>Designation: Assistant Professor</a:t>
                      </a:r>
                    </a:p>
                    <a:p>
                      <a:pPr defTabSz="914400">
                        <a:lnSpc>
                          <a:spcPct val="100000"/>
                        </a:lnSpc>
                        <a:tabLst>
                          <a:tab pos="0" algn="l"/>
                        </a:tabLst>
                      </a:pPr>
                      <a:r>
                        <a:rPr lang="en-US" sz="1800" b="0" u="none" strike="noStrike" dirty="0">
                          <a:solidFill>
                            <a:schemeClr val="dk1"/>
                          </a:solidFill>
                          <a:effectLst/>
                          <a:uFillTx/>
                          <a:latin typeface="Times New Roman" panose="02020603050405020304"/>
                        </a:rPr>
                        <a:t>Department: ECE</a:t>
                      </a:r>
                    </a:p>
                  </a:txBody>
                  <a:tcPr>
                    <a:lnL w="12240">
                      <a:solidFill>
                        <a:srgbClr val="4BACC6"/>
                      </a:solidFill>
                      <a:prstDash val="solid"/>
                    </a:lnL>
                    <a:lnR w="12240">
                      <a:solidFill>
                        <a:srgbClr val="4BACC6"/>
                      </a:solidFill>
                      <a:prstDash val="solid"/>
                    </a:lnR>
                    <a:lnT w="25200" cap="flat" cmpd="sng" algn="ctr">
                      <a:solidFill>
                        <a:srgbClr val="4BACC6"/>
                      </a:solidFill>
                      <a:prstDash val="solid"/>
                      <a:round/>
                      <a:headEnd type="none" w="med" len="med"/>
                      <a:tailEnd type="none" w="med" len="med"/>
                    </a:lnT>
                    <a:lnB w="12240">
                      <a:solidFill>
                        <a:srgbClr val="4BACC6"/>
                      </a:solidFill>
                      <a:prstDash val="solid"/>
                    </a:lnB>
                    <a:solidFill>
                      <a:schemeClr val="accent5">
                        <a:alpha val="20000"/>
                      </a:schemeClr>
                    </a:solidFill>
                  </a:tcPr>
                </a:tc>
                <a:extLst>
                  <a:ext uri="{0D108BD9-81ED-4DB2-BD59-A6C34878D82A}">
                    <a16:rowId xmlns:a16="http://schemas.microsoft.com/office/drawing/2014/main" val="10001"/>
                  </a:ext>
                </a:extLst>
              </a:tr>
            </a:tbl>
          </a:graphicData>
        </a:graphic>
      </p:graphicFrame>
      <p:sp>
        <p:nvSpPr>
          <p:cNvPr id="64" name="PlaceHolder 3"/>
          <p:cNvSpPr>
            <a:spLocks noGrp="1"/>
          </p:cNvSpPr>
          <p:nvPr>
            <p:ph type="ftr" idx="34"/>
          </p:nvPr>
        </p:nvSpPr>
        <p:spPr>
          <a:xfrm>
            <a:off x="533520" y="6356520"/>
            <a:ext cx="8076960" cy="272520"/>
          </a:xfrm>
          <a:prstGeom prst="rect">
            <a:avLst/>
          </a:prstGeom>
          <a:noFill/>
          <a:ln w="0">
            <a:noFill/>
          </a:ln>
        </p:spPr>
        <p:txBody>
          <a:bodyPr lIns="91440" tIns="45720" rIns="91440" bIns="45720" anchor="ctr">
            <a:noAutofit/>
          </a:bodyPr>
          <a:lstStyle>
            <a:lvl1pPr indent="0" algn="ctr" defTabSz="9144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914400">
              <a:lnSpc>
                <a:spcPct val="100000"/>
              </a:lnSpc>
              <a:buNone/>
            </a:pPr>
            <a:r>
              <a:rPr lang="en-US" sz="1200" b="0" u="none" strike="noStrike" dirty="0">
                <a:solidFill>
                  <a:schemeClr val="dk1">
                    <a:tint val="75000"/>
                  </a:schemeClr>
                </a:solidFill>
                <a:effectLst/>
                <a:uFillTx/>
                <a:latin typeface="Calibri" panose="020F0502020204030204"/>
              </a:rPr>
              <a:t>							</a:t>
            </a:r>
            <a:endParaRPr lang="en-US" sz="1200" b="0" u="none" strike="noStrike" dirty="0">
              <a:solidFill>
                <a:srgbClr val="000000"/>
              </a:solidFill>
              <a:effectLst/>
              <a:uFillTx/>
              <a:latin typeface="Times New Roman" panose="02020603050405020304"/>
            </a:endParaRPr>
          </a:p>
          <a:p>
            <a:pPr indent="0" algn="ctr" defTabSz="914400">
              <a:lnSpc>
                <a:spcPct val="100000"/>
              </a:lnSpc>
              <a:buNone/>
            </a:pPr>
            <a:endParaRPr lang="en-US" sz="1200" b="0" u="none" strike="noStrike" dirty="0">
              <a:solidFill>
                <a:srgbClr val="000000"/>
              </a:solidFill>
              <a:effectLst/>
              <a:uFillTx/>
              <a:latin typeface="Times New Roman" panose="02020603050405020304"/>
            </a:endParaRPr>
          </a:p>
        </p:txBody>
      </p:sp>
      <p:pic>
        <p:nvPicPr>
          <p:cNvPr id="65" name="image1.png"/>
          <p:cNvPicPr/>
          <p:nvPr/>
        </p:nvPicPr>
        <p:blipFill>
          <a:blip r:embed="rId3"/>
          <a:stretch>
            <a:fillRect/>
          </a:stretch>
        </p:blipFill>
        <p:spPr>
          <a:xfrm>
            <a:off x="533520" y="597960"/>
            <a:ext cx="1447560" cy="91404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AGENDA</a:t>
            </a:r>
            <a:endParaRPr lang="en-IN" b="1" dirty="0"/>
          </a:p>
        </p:txBody>
      </p:sp>
      <p:sp>
        <p:nvSpPr>
          <p:cNvPr id="3" name="Text Placeholder 2"/>
          <p:cNvSpPr>
            <a:spLocks noGrp="1"/>
          </p:cNvSpPr>
          <p:nvPr>
            <p:ph type="body"/>
          </p:nvPr>
        </p:nvSpPr>
        <p:spPr>
          <a:xfrm>
            <a:off x="457200" y="1531620"/>
            <a:ext cx="8229240" cy="4837648"/>
          </a:xfrm>
        </p:spPr>
        <p:txBody>
          <a:bodyPr/>
          <a:lstStyle/>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ABSTRACT</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INTRODUCTION</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OBJECTIVES</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LITERATURE SURVEY</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METHODOLOGY</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EXISTING SYSTEM</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PROPOSED SYSTEM</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BLOCK DIAGRAM</a:t>
            </a:r>
          </a:p>
          <a:p>
            <a:pPr marL="285750" indent="-285750">
              <a:lnSpc>
                <a:spcPct val="150000"/>
              </a:lnSpc>
              <a:buClr>
                <a:srgbClr val="000000"/>
              </a:buClr>
              <a:buFont typeface="Arial" panose="020B0604020202020204" pitchFamily="34" charset="0"/>
              <a:buChar char="•"/>
            </a:pPr>
            <a:r>
              <a:rPr lang="en-US" sz="1800" b="1" dirty="0">
                <a:solidFill>
                  <a:schemeClr val="dk1"/>
                </a:solidFill>
                <a:cs typeface="+mj-lt"/>
              </a:rPr>
              <a:t>CODE</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OUTPUT</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CONCLUSION</a:t>
            </a:r>
          </a:p>
          <a:p>
            <a:pPr marL="285750" indent="-285750">
              <a:lnSpc>
                <a:spcPct val="150000"/>
              </a:lnSpc>
              <a:buClr>
                <a:srgbClr val="000000"/>
              </a:buClr>
              <a:buFont typeface="Arial" panose="020B0604020202020204" pitchFamily="34" charset="0"/>
              <a:buChar char="•"/>
            </a:pPr>
            <a:r>
              <a:rPr lang="en-US" sz="1800" b="1" dirty="0">
                <a:solidFill>
                  <a:schemeClr val="dk1"/>
                </a:solidFill>
                <a:latin typeface="+mj-lt"/>
                <a:cs typeface="+mj-lt"/>
              </a:rPr>
              <a:t>REFERENCES</a:t>
            </a:r>
          </a:p>
        </p:txBody>
      </p:sp>
      <p:pic>
        <p:nvPicPr>
          <p:cNvPr id="6" name="image1.png"/>
          <p:cNvPicPr/>
          <p:nvPr/>
        </p:nvPicPr>
        <p:blipFill>
          <a:blip r:embed="rId2"/>
          <a:stretch>
            <a:fillRect/>
          </a:stretch>
        </p:blipFill>
        <p:spPr>
          <a:xfrm>
            <a:off x="521855" y="388980"/>
            <a:ext cx="1447560" cy="91404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dk1"/>
                </a:solidFill>
              </a:rPr>
              <a:t>ABSTRACT</a:t>
            </a:r>
            <a:endParaRPr lang="en-IN" b="1" dirty="0"/>
          </a:p>
        </p:txBody>
      </p:sp>
      <p:sp>
        <p:nvSpPr>
          <p:cNvPr id="3" name="Text Placeholder 2"/>
          <p:cNvSpPr>
            <a:spLocks noGrp="1"/>
          </p:cNvSpPr>
          <p:nvPr>
            <p:ph type="body"/>
          </p:nvPr>
        </p:nvSpPr>
        <p:spPr>
          <a:xfrm>
            <a:off x="457200" y="1531620"/>
            <a:ext cx="8228965" cy="4556125"/>
          </a:xfrm>
        </p:spPr>
        <p:txBody>
          <a:bodyPr/>
          <a:lstStyle/>
          <a:p>
            <a:pPr algn="just"/>
            <a:r>
              <a:rPr lang="en-US" altLang="en-US" sz="1800" dirty="0"/>
              <a:t>In modern wireless communication systems, the reliable transmission of multimedia data such as images is a major challenge due to noise, interference, and channel fading. Orthogonal Frequency Division Multiplexing (OFDM) is widely used to overcome these issues because of its high data rate capability and robustness against multipath fading. However, conventional OFDM systems based on Fast Fourier Transform (FFT) suffer from high Peak-to-Average Power Ratio (PAPR) and spectral inefficiency.This project presents a basic-level study of image transmission using OFDM with Discrete Wavelet Transform (DWT)–based carrier modulation and channel estimation. DWT-based OFDM replaces the conventional FFT with wavelet transforms, resulting in better spectral efficiency and reduced PAPR. Channel estimation techniques are applied to estimate channel characteristics and improve image reconstruction quality at the receiver. The proposed system demonstrates improved performance in terms of image quality, noise resistance, and efficient bandwidth utilization.</a:t>
            </a:r>
          </a:p>
        </p:txBody>
      </p:sp>
      <p:pic>
        <p:nvPicPr>
          <p:cNvPr id="6" name="image1.png"/>
          <p:cNvPicPr/>
          <p:nvPr/>
        </p:nvPicPr>
        <p:blipFill>
          <a:blip r:embed="rId2"/>
          <a:stretch>
            <a:fillRect/>
          </a:stretch>
        </p:blipFill>
        <p:spPr>
          <a:xfrm>
            <a:off x="521855" y="388980"/>
            <a:ext cx="1447560" cy="91404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endParaRPr lang="en-IN" b="1" dirty="0"/>
          </a:p>
        </p:txBody>
      </p:sp>
      <p:sp>
        <p:nvSpPr>
          <p:cNvPr id="3" name="Text Placeholder 2"/>
          <p:cNvSpPr>
            <a:spLocks noGrp="1"/>
          </p:cNvSpPr>
          <p:nvPr>
            <p:ph type="body"/>
          </p:nvPr>
        </p:nvSpPr>
        <p:spPr>
          <a:xfrm>
            <a:off x="364836" y="1634836"/>
            <a:ext cx="8229240" cy="4942764"/>
          </a:xfrm>
        </p:spPr>
        <p:txBody>
          <a:bodyPr/>
          <a:lstStyle/>
          <a:p>
            <a:pPr algn="just"/>
            <a:r>
              <a:rPr lang="en-US" altLang="en-US" sz="1800" dirty="0"/>
              <a:t>With the rapid growth of wireless communication technologies, the demand for high-quality multimedia transmission has increased significantly. Image transmission plays a vital role in applications such as medical imaging, satellite communication, surveillance systems, and wireless multimedia services. However, transmitting images over wireless channels is challenging due to noise, interference, and multipath fading, which can distort the received image.Orthogonal Frequency Division Multiplexing (OFDM) is a popular modulation technique used in modern communication systems such as LTE, Wi-Fi, and digital broadcasting. OFDM divides the available bandwidth into multiple orthogonal subcarriers, allowing parallel data transmission. This makes OFDM highly resistant to inter-symbol interference caused by multipath propagation. Despite its advantages, traditional FFT-based OFDM systems suffer from drawbacks such as high Peak-to-Average Power Ratio (PAPR) and sensitivity to synchronization errors.To overcome these limitations, Discrete Wavelet Transform (DWT)–based OFDM has been introduced. In DWT-based OFDM, wavelet transforms are used instead of FFT to generate subcarriers. This approach provides better time-frequency localization, improved spectral efficiency, and reduced PAPR. As a result, DWT-based OFDM is more suitable for efficient image transmission over wireless channels.Another critical aspect of wireless communication is channel estimation.</a:t>
            </a:r>
          </a:p>
          <a:p>
            <a:pPr algn="just"/>
            <a:endParaRPr lang="en-IN" sz="1600" dirty="0"/>
          </a:p>
        </p:txBody>
      </p:sp>
      <p:sp>
        <p:nvSpPr>
          <p:cNvPr id="5" name="PlaceHolder 3"/>
          <p:cNvSpPr txBox="1"/>
          <p:nvPr/>
        </p:nvSpPr>
        <p:spPr>
          <a:xfrm>
            <a:off x="457315" y="4714285"/>
            <a:ext cx="8229240" cy="348840"/>
          </a:xfrm>
          <a:prstGeom prst="rect">
            <a:avLst/>
          </a:prstGeom>
          <a:noFill/>
          <a:ln w="0">
            <a:noFill/>
          </a:ln>
        </p:spPr>
        <p:txBody>
          <a:bodyPr lIns="91440" tIns="45720" rIns="91440" bIns="45720" anchor="ctr">
            <a:noAutofit/>
          </a:bodyPr>
          <a:lstStyle>
            <a:defPPr>
              <a:defRPr lang="en-US"/>
            </a:defPPr>
            <a:lvl1pPr marL="0" indent="0" algn="ctr" defTabSz="914400" rtl="0" eaLnBrk="1" latinLnBrk="0" hangingPunct="1">
              <a:lnSpc>
                <a:spcPct val="100000"/>
              </a:lnSpc>
              <a:buNone/>
              <a:defRPr lang="en-US" sz="1200" b="0" u="none" strike="noStrike" kern="1200">
                <a:solidFill>
                  <a:schemeClr val="dk1">
                    <a:tint val="75000"/>
                  </a:schemeClr>
                </a:solidFill>
                <a:effectLst/>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000000"/>
              </a:solidFill>
              <a:latin typeface="Times New Roman" panose="02020603050405020304"/>
            </a:endParaRPr>
          </a:p>
        </p:txBody>
      </p:sp>
      <p:pic>
        <p:nvPicPr>
          <p:cNvPr id="6" name="image1.png"/>
          <p:cNvPicPr/>
          <p:nvPr/>
        </p:nvPicPr>
        <p:blipFill>
          <a:blip r:embed="rId2"/>
          <a:stretch>
            <a:fillRect/>
          </a:stretch>
        </p:blipFill>
        <p:spPr>
          <a:xfrm>
            <a:off x="457200" y="388980"/>
            <a:ext cx="1447560" cy="91404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a:t>
            </a:r>
            <a:endParaRPr lang="en-IN" b="1" dirty="0"/>
          </a:p>
        </p:txBody>
      </p:sp>
      <p:sp>
        <p:nvSpPr>
          <p:cNvPr id="3" name="Text Placeholder 2"/>
          <p:cNvSpPr>
            <a:spLocks noGrp="1"/>
          </p:cNvSpPr>
          <p:nvPr>
            <p:ph type="body"/>
          </p:nvPr>
        </p:nvSpPr>
        <p:spPr>
          <a:xfrm>
            <a:off x="457200" y="1967230"/>
            <a:ext cx="8228965" cy="3016885"/>
          </a:xfrm>
        </p:spPr>
        <p:txBody>
          <a:bodyPr/>
          <a:lstStyle/>
          <a:p>
            <a:pPr marL="285750" indent="-285750" algn="just">
              <a:lnSpc>
                <a:spcPct val="150000"/>
              </a:lnSpc>
              <a:buFont typeface="Arial" panose="020B0604020202020204" pitchFamily="34" charset="0"/>
              <a:buChar char="•"/>
            </a:pPr>
            <a:r>
              <a:rPr lang="en-US" altLang="en-US" sz="1800" dirty="0"/>
              <a:t>To study image transmission using OFDM.</a:t>
            </a:r>
          </a:p>
          <a:p>
            <a:pPr marL="285750" indent="-285750" algn="just">
              <a:lnSpc>
                <a:spcPct val="150000"/>
              </a:lnSpc>
              <a:buFont typeface="Arial" panose="020B0604020202020204" pitchFamily="34" charset="0"/>
              <a:buChar char="•"/>
            </a:pPr>
            <a:r>
              <a:rPr lang="en-US" altLang="en-US" sz="1800" dirty="0"/>
              <a:t>To understand DWT-based carrier modulation technique.</a:t>
            </a:r>
          </a:p>
          <a:p>
            <a:pPr marL="285750" indent="-285750" algn="just">
              <a:lnSpc>
                <a:spcPct val="150000"/>
              </a:lnSpc>
              <a:buFont typeface="Arial" panose="020B0604020202020204" pitchFamily="34" charset="0"/>
              <a:buChar char="•"/>
            </a:pPr>
            <a:r>
              <a:rPr lang="en-US" altLang="en-US" sz="1800" dirty="0"/>
              <a:t>To analyze basic channel estimation methods.</a:t>
            </a:r>
          </a:p>
          <a:p>
            <a:pPr marL="285750" indent="-285750" algn="just">
              <a:lnSpc>
                <a:spcPct val="150000"/>
              </a:lnSpc>
              <a:buFont typeface="Arial" panose="020B0604020202020204" pitchFamily="34" charset="0"/>
              <a:buChar char="•"/>
            </a:pPr>
            <a:r>
              <a:rPr lang="en-US" altLang="en-US" sz="1800" dirty="0"/>
              <a:t>To improve received image quality.</a:t>
            </a:r>
          </a:p>
          <a:p>
            <a:pPr marL="285750" indent="-285750" algn="just">
              <a:lnSpc>
                <a:spcPct val="150000"/>
              </a:lnSpc>
              <a:buFont typeface="Arial" panose="020B0604020202020204" pitchFamily="34" charset="0"/>
              <a:buChar char="•"/>
            </a:pPr>
            <a:r>
              <a:rPr lang="en-US" altLang="en-US" sz="1800" dirty="0"/>
              <a:t>To compare performance with conventional OFDM systems.</a:t>
            </a:r>
          </a:p>
        </p:txBody>
      </p:sp>
      <p:sp>
        <p:nvSpPr>
          <p:cNvPr id="5" name="PlaceHolder 3"/>
          <p:cNvSpPr txBox="1"/>
          <p:nvPr/>
        </p:nvSpPr>
        <p:spPr>
          <a:xfrm>
            <a:off x="457200" y="6356520"/>
            <a:ext cx="8229240" cy="348840"/>
          </a:xfrm>
          <a:prstGeom prst="rect">
            <a:avLst/>
          </a:prstGeom>
          <a:noFill/>
          <a:ln w="0">
            <a:noFill/>
          </a:ln>
        </p:spPr>
        <p:txBody>
          <a:bodyPr lIns="91440" tIns="45720" rIns="91440" bIns="45720" anchor="ctr">
            <a:noAutofit/>
          </a:bodyPr>
          <a:lstStyle>
            <a:defPPr>
              <a:defRPr lang="en-US"/>
            </a:defPPr>
            <a:lvl1pPr marL="0" indent="0" algn="ctr" defTabSz="914400" rtl="0" eaLnBrk="1" latinLnBrk="0" hangingPunct="1">
              <a:lnSpc>
                <a:spcPct val="100000"/>
              </a:lnSpc>
              <a:buNone/>
              <a:defRPr lang="en-US" sz="1200" b="0" u="none" strike="noStrike" kern="1200">
                <a:solidFill>
                  <a:schemeClr val="dk1">
                    <a:tint val="75000"/>
                  </a:schemeClr>
                </a:solidFill>
                <a:effectLst/>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rgbClr val="000000"/>
              </a:solidFill>
              <a:latin typeface="Times New Roman" panose="02020603050405020304"/>
            </a:endParaRPr>
          </a:p>
        </p:txBody>
      </p:sp>
      <p:pic>
        <p:nvPicPr>
          <p:cNvPr id="6" name="image1.png"/>
          <p:cNvPicPr/>
          <p:nvPr/>
        </p:nvPicPr>
        <p:blipFill>
          <a:blip r:embed="rId2"/>
          <a:stretch>
            <a:fillRect/>
          </a:stretch>
        </p:blipFill>
        <p:spPr>
          <a:xfrm>
            <a:off x="457200" y="503280"/>
            <a:ext cx="1447560" cy="91404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LITERATURE  SURVEY</a:t>
            </a:r>
            <a:endParaRPr lang="en-IN" sz="3600" b="1" dirty="0"/>
          </a:p>
        </p:txBody>
      </p:sp>
      <p:graphicFrame>
        <p:nvGraphicFramePr>
          <p:cNvPr id="6" name="Table 5"/>
          <p:cNvGraphicFramePr>
            <a:graphicFrameLocks noGrp="1"/>
          </p:cNvGraphicFramePr>
          <p:nvPr>
            <p:extLst>
              <p:ext uri="{D42A27DB-BD31-4B8C-83A1-F6EECF244321}">
                <p14:modId xmlns:p14="http://schemas.microsoft.com/office/powerpoint/2010/main" val="957956776"/>
              </p:ext>
            </p:extLst>
          </p:nvPr>
        </p:nvGraphicFramePr>
        <p:xfrm>
          <a:off x="457199" y="1417320"/>
          <a:ext cx="8325185" cy="5151120"/>
        </p:xfrm>
        <a:graphic>
          <a:graphicData uri="http://schemas.openxmlformats.org/drawingml/2006/table">
            <a:tbl>
              <a:tblPr firstRow="1">
                <a:tableStyleId>{5940675A-B579-460E-94D1-54222C63F5DA}</a:tableStyleId>
              </a:tblPr>
              <a:tblGrid>
                <a:gridCol w="540328">
                  <a:extLst>
                    <a:ext uri="{9D8B030D-6E8A-4147-A177-3AD203B41FA5}">
                      <a16:colId xmlns:a16="http://schemas.microsoft.com/office/drawing/2014/main" val="20000"/>
                    </a:ext>
                  </a:extLst>
                </a:gridCol>
                <a:gridCol w="1874982">
                  <a:extLst>
                    <a:ext uri="{9D8B030D-6E8A-4147-A177-3AD203B41FA5}">
                      <a16:colId xmlns:a16="http://schemas.microsoft.com/office/drawing/2014/main" val="20001"/>
                    </a:ext>
                  </a:extLst>
                </a:gridCol>
                <a:gridCol w="1544955">
                  <a:extLst>
                    <a:ext uri="{9D8B030D-6E8A-4147-A177-3AD203B41FA5}">
                      <a16:colId xmlns:a16="http://schemas.microsoft.com/office/drawing/2014/main" val="20002"/>
                    </a:ext>
                  </a:extLst>
                </a:gridCol>
                <a:gridCol w="995045">
                  <a:extLst>
                    <a:ext uri="{9D8B030D-6E8A-4147-A177-3AD203B41FA5}">
                      <a16:colId xmlns:a16="http://schemas.microsoft.com/office/drawing/2014/main" val="20003"/>
                    </a:ext>
                  </a:extLst>
                </a:gridCol>
                <a:gridCol w="1902390">
                  <a:extLst>
                    <a:ext uri="{9D8B030D-6E8A-4147-A177-3AD203B41FA5}">
                      <a16:colId xmlns:a16="http://schemas.microsoft.com/office/drawing/2014/main" val="20004"/>
                    </a:ext>
                  </a:extLst>
                </a:gridCol>
                <a:gridCol w="1467485">
                  <a:extLst>
                    <a:ext uri="{9D8B030D-6E8A-4147-A177-3AD203B41FA5}">
                      <a16:colId xmlns:a16="http://schemas.microsoft.com/office/drawing/2014/main" val="20005"/>
                    </a:ext>
                  </a:extLst>
                </a:gridCol>
              </a:tblGrid>
              <a:tr h="734753">
                <a:tc>
                  <a:txBody>
                    <a:bodyPr/>
                    <a:lstStyle/>
                    <a:p>
                      <a:r>
                        <a:rPr lang="en-IN" sz="1600" b="1" dirty="0"/>
                        <a:t>SI. No</a:t>
                      </a:r>
                    </a:p>
                  </a:txBody>
                  <a:tcPr anchor="ctr"/>
                </a:tc>
                <a:tc>
                  <a:txBody>
                    <a:bodyPr/>
                    <a:lstStyle/>
                    <a:p>
                      <a:r>
                        <a:rPr lang="en-IN" sz="1600" b="1" dirty="0"/>
                        <a:t>Title of the Paper</a:t>
                      </a:r>
                    </a:p>
                  </a:txBody>
                  <a:tcPr/>
                </a:tc>
                <a:tc>
                  <a:txBody>
                    <a:bodyPr/>
                    <a:lstStyle/>
                    <a:p>
                      <a:r>
                        <a:rPr lang="en-IN" sz="1600" b="1" dirty="0"/>
                        <a:t>Published Journal and Year</a:t>
                      </a:r>
                    </a:p>
                  </a:txBody>
                  <a:tcPr/>
                </a:tc>
                <a:tc>
                  <a:txBody>
                    <a:bodyPr/>
                    <a:lstStyle/>
                    <a:p>
                      <a:r>
                        <a:rPr lang="en-IN" sz="1600" b="1" dirty="0"/>
                        <a:t>Author</a:t>
                      </a:r>
                    </a:p>
                  </a:txBody>
                  <a:tcPr/>
                </a:tc>
                <a:tc>
                  <a:txBody>
                    <a:bodyPr/>
                    <a:lstStyle/>
                    <a:p>
                      <a:r>
                        <a:rPr lang="en-IN" sz="1600" b="1" dirty="0"/>
                        <a:t>Concept</a:t>
                      </a:r>
                    </a:p>
                  </a:txBody>
                  <a:tcPr/>
                </a:tc>
                <a:tc>
                  <a:txBody>
                    <a:bodyPr/>
                    <a:lstStyle/>
                    <a:p>
                      <a:r>
                        <a:rPr lang="en-IN" b="1" dirty="0"/>
                        <a:t>Inference</a:t>
                      </a:r>
                    </a:p>
                  </a:txBody>
                  <a:tcPr/>
                </a:tc>
                <a:extLst>
                  <a:ext uri="{0D108BD9-81ED-4DB2-BD59-A6C34878D82A}">
                    <a16:rowId xmlns:a16="http://schemas.microsoft.com/office/drawing/2014/main" val="10000"/>
                  </a:ext>
                </a:extLst>
              </a:tr>
              <a:tr h="705721">
                <a:tc>
                  <a:txBody>
                    <a:bodyPr/>
                    <a:lstStyle/>
                    <a:p>
                      <a:r>
                        <a:rPr lang="en-US" dirty="0"/>
                        <a:t>1</a:t>
                      </a:r>
                      <a:endParaRPr lang="en-IN" dirty="0"/>
                    </a:p>
                  </a:txBody>
                  <a:tcPr/>
                </a:tc>
                <a:tc>
                  <a:txBody>
                    <a:bodyPr/>
                    <a:lstStyle/>
                    <a:p>
                      <a:pPr algn="l"/>
                      <a:r>
                        <a:rPr lang="en-US" altLang="en-US" sz="1600" dirty="0"/>
                        <a:t>Image Transmission Through OFDM Channel with Noise Estimation</a:t>
                      </a:r>
                    </a:p>
                  </a:txBody>
                  <a:tcPr anchor="ctr"/>
                </a:tc>
                <a:tc>
                  <a:txBody>
                    <a:bodyPr/>
                    <a:lstStyle/>
                    <a:p>
                      <a:r>
                        <a:rPr lang="en-US" altLang="en-US" sz="1600" dirty="0"/>
                        <a:t>International Journal of Future Generation Communication and Networking, 2017</a:t>
                      </a:r>
                    </a:p>
                  </a:txBody>
                  <a:tcPr/>
                </a:tc>
                <a:tc>
                  <a:txBody>
                    <a:bodyPr/>
                    <a:lstStyle/>
                    <a:p>
                      <a:r>
                        <a:rPr lang="en-US" altLang="en-US" sz="1600" dirty="0"/>
                        <a:t>R. Kaur, S. Singh</a:t>
                      </a:r>
                    </a:p>
                  </a:txBody>
                  <a:tcPr anchor="ctr"/>
                </a:tc>
                <a:tc>
                  <a:txBody>
                    <a:bodyPr/>
                    <a:lstStyle/>
                    <a:p>
                      <a:r>
                        <a:rPr lang="en-US" altLang="en-US" sz="1600" dirty="0"/>
                        <a:t>Image transmission using OFDM system, noise estimation, BER and PSNR analysis</a:t>
                      </a:r>
                    </a:p>
                  </a:txBody>
                  <a:tcPr anchor="ctr"/>
                </a:tc>
                <a:tc>
                  <a:txBody>
                    <a:bodyPr/>
                    <a:lstStyle/>
                    <a:p>
                      <a:pPr algn="l"/>
                      <a:r>
                        <a:rPr lang="en-US" altLang="en-US" sz="1600" dirty="0"/>
                        <a:t>Improves image reconstruction quality but performance decreases under severe channel noise.</a:t>
                      </a:r>
                    </a:p>
                  </a:txBody>
                  <a:tcPr/>
                </a:tc>
                <a:extLst>
                  <a:ext uri="{0D108BD9-81ED-4DB2-BD59-A6C34878D82A}">
                    <a16:rowId xmlns:a16="http://schemas.microsoft.com/office/drawing/2014/main" val="10001"/>
                  </a:ext>
                </a:extLst>
              </a:tr>
              <a:tr h="2062808">
                <a:tc>
                  <a:txBody>
                    <a:bodyPr/>
                    <a:lstStyle/>
                    <a:p>
                      <a:r>
                        <a:rPr lang="en-US" dirty="0"/>
                        <a:t>2</a:t>
                      </a:r>
                      <a:endParaRPr lang="en-IN" dirty="0"/>
                    </a:p>
                  </a:txBody>
                  <a:tcPr/>
                </a:tc>
                <a:tc>
                  <a:txBody>
                    <a:bodyPr/>
                    <a:lstStyle/>
                    <a:p>
                      <a:r>
                        <a:rPr lang="en-US" altLang="en-US" sz="1600" dirty="0"/>
                        <a:t>Performance Analysis of DWT-OFDM and FFT-OFDM using Various Modulation Techniques</a:t>
                      </a:r>
                    </a:p>
                  </a:txBody>
                  <a:tcPr/>
                </a:tc>
                <a:tc>
                  <a:txBody>
                    <a:bodyPr/>
                    <a:lstStyle/>
                    <a:p>
                      <a:r>
                        <a:rPr lang="en-US" altLang="en-US" sz="1600" dirty="0"/>
                        <a:t>International Journal of Computer Applications, 2015</a:t>
                      </a:r>
                    </a:p>
                  </a:txBody>
                  <a:tcPr/>
                </a:tc>
                <a:tc>
                  <a:txBody>
                    <a:bodyPr/>
                    <a:lstStyle/>
                    <a:p>
                      <a:r>
                        <a:rPr lang="en-US" altLang="en-US" sz="1600" dirty="0"/>
                        <a:t>P. Manhas, M. K. Soni</a:t>
                      </a:r>
                    </a:p>
                  </a:txBody>
                  <a:tcPr/>
                </a:tc>
                <a:tc>
                  <a:txBody>
                    <a:bodyPr/>
                    <a:lstStyle/>
                    <a:p>
                      <a:r>
                        <a:rPr lang="en-US" altLang="en-US" sz="1600" dirty="0"/>
                        <a:t>Comparison of FFT-OFDM and DWT-OFDM, evaluation using BER and channel coding techniques</a:t>
                      </a:r>
                    </a:p>
                  </a:txBody>
                  <a:tcPr/>
                </a:tc>
                <a:tc>
                  <a:txBody>
                    <a:bodyPr/>
                    <a:lstStyle/>
                    <a:p>
                      <a:r>
                        <a:rPr lang="en-US" altLang="en-US" sz="1600" dirty="0"/>
                        <a:t>DWT-OFDM improves spectral efficiency and reduces interference compared to conventional OFDM systems.</a:t>
                      </a:r>
                    </a:p>
                  </a:txBody>
                  <a:tcPr/>
                </a:tc>
                <a:extLst>
                  <a:ext uri="{0D108BD9-81ED-4DB2-BD59-A6C34878D82A}">
                    <a16:rowId xmlns:a16="http://schemas.microsoft.com/office/drawing/2014/main" val="10002"/>
                  </a:ext>
                </a:extLst>
              </a:tr>
            </a:tbl>
          </a:graphicData>
        </a:graphic>
      </p:graphicFrame>
      <p:pic>
        <p:nvPicPr>
          <p:cNvPr id="7" name="image1.png"/>
          <p:cNvPicPr/>
          <p:nvPr/>
        </p:nvPicPr>
        <p:blipFill>
          <a:blip r:embed="rId2"/>
          <a:stretch>
            <a:fillRect/>
          </a:stretch>
        </p:blipFill>
        <p:spPr>
          <a:xfrm>
            <a:off x="457199" y="274680"/>
            <a:ext cx="1447560" cy="91404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LITERATURE</a:t>
            </a: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SURVEY</a:t>
            </a:r>
            <a:endParaRPr lang="en-IN" sz="3600" b="1" dirty="0"/>
          </a:p>
        </p:txBody>
      </p:sp>
      <p:graphicFrame>
        <p:nvGraphicFramePr>
          <p:cNvPr id="6" name="Table 5"/>
          <p:cNvGraphicFramePr>
            <a:graphicFrameLocks noGrp="1"/>
          </p:cNvGraphicFramePr>
          <p:nvPr>
            <p:extLst>
              <p:ext uri="{D42A27DB-BD31-4B8C-83A1-F6EECF244321}">
                <p14:modId xmlns:p14="http://schemas.microsoft.com/office/powerpoint/2010/main" val="2894911914"/>
              </p:ext>
            </p:extLst>
          </p:nvPr>
        </p:nvGraphicFramePr>
        <p:xfrm>
          <a:off x="457199" y="1551708"/>
          <a:ext cx="8354292" cy="5151120"/>
        </p:xfrm>
        <a:graphic>
          <a:graphicData uri="http://schemas.openxmlformats.org/drawingml/2006/table">
            <a:tbl>
              <a:tblPr firstRow="1" bandRow="1">
                <a:tableStyleId>{5940675A-B579-460E-94D1-54222C63F5DA}</a:tableStyleId>
              </a:tblPr>
              <a:tblGrid>
                <a:gridCol w="464379">
                  <a:extLst>
                    <a:ext uri="{9D8B030D-6E8A-4147-A177-3AD203B41FA5}">
                      <a16:colId xmlns:a16="http://schemas.microsoft.com/office/drawing/2014/main" val="20000"/>
                    </a:ext>
                  </a:extLst>
                </a:gridCol>
                <a:gridCol w="2042387">
                  <a:extLst>
                    <a:ext uri="{9D8B030D-6E8A-4147-A177-3AD203B41FA5}">
                      <a16:colId xmlns:a16="http://schemas.microsoft.com/office/drawing/2014/main" val="20001"/>
                    </a:ext>
                  </a:extLst>
                </a:gridCol>
                <a:gridCol w="1361574">
                  <a:extLst>
                    <a:ext uri="{9D8B030D-6E8A-4147-A177-3AD203B41FA5}">
                      <a16:colId xmlns:a16="http://schemas.microsoft.com/office/drawing/2014/main" val="20002"/>
                    </a:ext>
                  </a:extLst>
                </a:gridCol>
                <a:gridCol w="1321435">
                  <a:extLst>
                    <a:ext uri="{9D8B030D-6E8A-4147-A177-3AD203B41FA5}">
                      <a16:colId xmlns:a16="http://schemas.microsoft.com/office/drawing/2014/main" val="20003"/>
                    </a:ext>
                  </a:extLst>
                </a:gridCol>
                <a:gridCol w="1629797">
                  <a:extLst>
                    <a:ext uri="{9D8B030D-6E8A-4147-A177-3AD203B41FA5}">
                      <a16:colId xmlns:a16="http://schemas.microsoft.com/office/drawing/2014/main" val="20004"/>
                    </a:ext>
                  </a:extLst>
                </a:gridCol>
                <a:gridCol w="1534720">
                  <a:extLst>
                    <a:ext uri="{9D8B030D-6E8A-4147-A177-3AD203B41FA5}">
                      <a16:colId xmlns:a16="http://schemas.microsoft.com/office/drawing/2014/main" val="20005"/>
                    </a:ext>
                  </a:extLst>
                </a:gridCol>
              </a:tblGrid>
              <a:tr h="1017032">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b="1" dirty="0" err="1">
                          <a:latin typeface="Times New Roman" panose="02020603050405020304" pitchFamily="18" charset="0"/>
                          <a:cs typeface="Times New Roman" panose="02020603050405020304" pitchFamily="18" charset="0"/>
                        </a:rPr>
                        <a:t>SI.No</a:t>
                      </a:r>
                      <a:endParaRPr lang="en-US" sz="1600" b="1" dirty="0">
                        <a:latin typeface="Times New Roman" panose="02020603050405020304" pitchFamily="18" charset="0"/>
                        <a:cs typeface="Times New Roman" panose="02020603050405020304" pitchFamily="18" charset="0"/>
                      </a:endParaRPr>
                    </a:p>
                    <a:p>
                      <a:endParaRPr lang="en-IN"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b="1" dirty="0">
                          <a:latin typeface="Times New Roman" panose="02020603050405020304" pitchFamily="18" charset="0"/>
                          <a:cs typeface="Times New Roman" panose="02020603050405020304" pitchFamily="18" charset="0"/>
                        </a:rPr>
                        <a:t>Title</a:t>
                      </a:r>
                      <a:r>
                        <a:rPr lang="en-US" sz="1600" b="1" baseline="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of the Paper</a:t>
                      </a: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b="1" dirty="0">
                          <a:latin typeface="Times New Roman" panose="02020603050405020304" pitchFamily="18" charset="0"/>
                          <a:cs typeface="Times New Roman" panose="02020603050405020304" pitchFamily="18" charset="0"/>
                        </a:rPr>
                        <a:t>Published</a:t>
                      </a:r>
                      <a:r>
                        <a:rPr lang="en-US" sz="1600" b="1" baseline="0" dirty="0">
                          <a:latin typeface="Times New Roman" panose="02020603050405020304" pitchFamily="18" charset="0"/>
                          <a:cs typeface="Times New Roman" panose="02020603050405020304" pitchFamily="18" charset="0"/>
                        </a:rPr>
                        <a:t> Journal and Year</a:t>
                      </a:r>
                      <a:endParaRPr lang="en-US" sz="1600" b="1" dirty="0">
                        <a:latin typeface="Times New Roman" panose="02020603050405020304" pitchFamily="18" charset="0"/>
                        <a:cs typeface="Times New Roman" panose="02020603050405020304" pitchFamily="18" charset="0"/>
                      </a:endParaRPr>
                    </a:p>
                    <a:p>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600" b="1" dirty="0">
                          <a:latin typeface="Times New Roman" panose="02020603050405020304" pitchFamily="18" charset="0"/>
                          <a:cs typeface="Times New Roman" panose="02020603050405020304" pitchFamily="18" charset="0"/>
                        </a:rPr>
                        <a:t>Author</a:t>
                      </a:r>
                    </a:p>
                    <a:p>
                      <a:endParaRPr lang="en-IN" sz="1600" b="1" dirty="0"/>
                    </a:p>
                  </a:txBody>
                  <a:tcPr/>
                </a:tc>
                <a:tc>
                  <a:txBody>
                    <a:bodyPr/>
                    <a:lstStyle/>
                    <a:p>
                      <a:r>
                        <a:rPr lang="en-US" sz="1600" b="1" dirty="0"/>
                        <a:t>Concept</a:t>
                      </a:r>
                      <a:endParaRPr lang="en-IN" sz="1600" b="1" dirty="0"/>
                    </a:p>
                  </a:txBody>
                  <a:tcPr/>
                </a:tc>
                <a:tc>
                  <a:txBody>
                    <a:bodyPr/>
                    <a:lstStyle/>
                    <a:p>
                      <a:r>
                        <a:rPr lang="en-US" sz="1600" b="1" dirty="0">
                          <a:latin typeface="Times New Roman" panose="02020603050405020304" pitchFamily="18" charset="0"/>
                          <a:cs typeface="Times New Roman" panose="02020603050405020304" pitchFamily="18" charset="0"/>
                        </a:rPr>
                        <a:t>Inference</a:t>
                      </a:r>
                      <a:endParaRPr lang="en-IN" sz="1600" dirty="0"/>
                    </a:p>
                  </a:txBody>
                  <a:tcPr/>
                </a:tc>
                <a:extLst>
                  <a:ext uri="{0D108BD9-81ED-4DB2-BD59-A6C34878D82A}">
                    <a16:rowId xmlns:a16="http://schemas.microsoft.com/office/drawing/2014/main" val="10000"/>
                  </a:ext>
                </a:extLst>
              </a:tr>
              <a:tr h="1602510">
                <a:tc>
                  <a:txBody>
                    <a:bodyPr/>
                    <a:lstStyle/>
                    <a:p>
                      <a:r>
                        <a:rPr lang="en-US" sz="1600" dirty="0"/>
                        <a:t>3</a:t>
                      </a:r>
                      <a:endParaRPr lang="en-IN" sz="1600" dirty="0"/>
                    </a:p>
                  </a:txBody>
                  <a:tcPr/>
                </a:tc>
                <a:tc>
                  <a:txBody>
                    <a:bodyPr/>
                    <a:lstStyle/>
                    <a:p>
                      <a:r>
                        <a:rPr lang="en-US" altLang="en-US" sz="1600" dirty="0"/>
                        <a:t>Image Transmission in 4G LTE Using DWT Based SC-FDMA System</a:t>
                      </a:r>
                    </a:p>
                  </a:txBody>
                  <a:tcPr/>
                </a:tc>
                <a:tc>
                  <a:txBody>
                    <a:bodyPr/>
                    <a:lstStyle/>
                    <a:p>
                      <a:r>
                        <a:rPr lang="en-US" altLang="en-US" sz="1600" dirty="0"/>
                        <a:t>Biomedical &amp; Pharmacology Journal, 2018</a:t>
                      </a:r>
                    </a:p>
                  </a:txBody>
                  <a:tcPr/>
                </a:tc>
                <a:tc>
                  <a:txBody>
                    <a:bodyPr/>
                    <a:lstStyle/>
                    <a:p>
                      <a:r>
                        <a:rPr lang="en-US" altLang="en-US" sz="1600" dirty="0"/>
                        <a:t>V. M. Padmapriya</a:t>
                      </a:r>
                    </a:p>
                  </a:txBody>
                  <a:tcPr/>
                </a:tc>
                <a:tc>
                  <a:txBody>
                    <a:bodyPr/>
                    <a:lstStyle/>
                    <a:p>
                      <a:r>
                        <a:rPr lang="en-US" altLang="en-US" sz="1600" dirty="0"/>
                        <a:t>DWT based wireless image transmission, performance analysis using BER, PSNR and SNR</a:t>
                      </a:r>
                    </a:p>
                  </a:txBody>
                  <a:tcPr/>
                </a:tc>
                <a:tc>
                  <a:txBody>
                    <a:bodyPr/>
                    <a:lstStyle/>
                    <a:p>
                      <a:r>
                        <a:rPr lang="en-US" altLang="en-US" sz="1600" dirty="0"/>
                        <a:t>Wavelet transform improves noise resistance and reduces error rate in wireless communication.</a:t>
                      </a:r>
                    </a:p>
                  </a:txBody>
                  <a:tcPr/>
                </a:tc>
                <a:extLst>
                  <a:ext uri="{0D108BD9-81ED-4DB2-BD59-A6C34878D82A}">
                    <a16:rowId xmlns:a16="http://schemas.microsoft.com/office/drawing/2014/main" val="10001"/>
                  </a:ext>
                </a:extLst>
              </a:tr>
              <a:tr h="1681018">
                <a:tc>
                  <a:txBody>
                    <a:bodyPr/>
                    <a:lstStyle/>
                    <a:p>
                      <a:r>
                        <a:rPr lang="en-US" sz="1600" dirty="0"/>
                        <a:t>4</a:t>
                      </a:r>
                      <a:endParaRPr lang="en-IN" sz="1600" dirty="0"/>
                    </a:p>
                  </a:txBody>
                  <a:tcPr/>
                </a:tc>
                <a:tc>
                  <a:txBody>
                    <a:bodyPr/>
                    <a:lstStyle/>
                    <a:p>
                      <a:r>
                        <a:rPr lang="en-US" altLang="en-US" sz="1600" dirty="0"/>
                        <a:t>Channel Estimation of DWT Based MIMO-OFDM System</a:t>
                      </a:r>
                    </a:p>
                  </a:txBody>
                  <a:tcPr/>
                </a:tc>
                <a:tc>
                  <a:txBody>
                    <a:bodyPr/>
                    <a:lstStyle/>
                    <a:p>
                      <a:r>
                        <a:rPr lang="en-US" altLang="en-US" sz="1600" dirty="0"/>
                        <a:t>Indian Journal of Science and Technology, 2016</a:t>
                      </a:r>
                    </a:p>
                  </a:txBody>
                  <a:tcPr/>
                </a:tc>
                <a:tc>
                  <a:txBody>
                    <a:bodyPr/>
                    <a:lstStyle/>
                    <a:p>
                      <a:r>
                        <a:rPr lang="en-US" altLang="en-US" sz="1600" dirty="0"/>
                        <a:t>S. Sharma, </a:t>
                      </a:r>
                    </a:p>
                    <a:p>
                      <a:r>
                        <a:rPr lang="en-US" altLang="en-US" sz="1600" dirty="0"/>
                        <a:t>R. Mehta</a:t>
                      </a:r>
                    </a:p>
                  </a:txBody>
                  <a:tcPr/>
                </a:tc>
                <a:tc>
                  <a:txBody>
                    <a:bodyPr/>
                    <a:lstStyle/>
                    <a:p>
                      <a:r>
                        <a:rPr lang="en-US" altLang="en-US" sz="1600" dirty="0"/>
                        <a:t>Replacement of FFT/IFFT with DWT/IDWT in OFDM systems, channel estimation in MIMO-OFDM</a:t>
                      </a:r>
                    </a:p>
                  </a:txBody>
                  <a:tcPr/>
                </a:tc>
                <a:tc>
                  <a:txBody>
                    <a:bodyPr/>
                    <a:lstStyle/>
                    <a:p>
                      <a:r>
                        <a:rPr lang="en-US" altLang="en-US" sz="1600" dirty="0"/>
                        <a:t>DWT based OFDM provides better BER performance and improved spectral efficiency in multipath channels.</a:t>
                      </a:r>
                    </a:p>
                  </a:txBody>
                  <a:tcPr/>
                </a:tc>
                <a:extLst>
                  <a:ext uri="{0D108BD9-81ED-4DB2-BD59-A6C34878D82A}">
                    <a16:rowId xmlns:a16="http://schemas.microsoft.com/office/drawing/2014/main" val="10002"/>
                  </a:ext>
                </a:extLst>
              </a:tr>
            </a:tbl>
          </a:graphicData>
        </a:graphic>
      </p:graphicFrame>
      <p:pic>
        <p:nvPicPr>
          <p:cNvPr id="8" name="image1.png"/>
          <p:cNvPicPr/>
          <p:nvPr/>
        </p:nvPicPr>
        <p:blipFill>
          <a:blip r:embed="rId2"/>
          <a:stretch>
            <a:fillRect/>
          </a:stretch>
        </p:blipFill>
        <p:spPr>
          <a:xfrm>
            <a:off x="457200" y="388980"/>
            <a:ext cx="1447560" cy="91404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2D8FF6-AFAA-9412-1E42-DA48A5F28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86" y="942209"/>
            <a:ext cx="7958668" cy="5797258"/>
          </a:xfrm>
          <a:prstGeom prst="rect">
            <a:avLst/>
          </a:prstGeom>
        </p:spPr>
      </p:pic>
      <p:sp>
        <p:nvSpPr>
          <p:cNvPr id="8" name="Text Placeholder 2">
            <a:extLst>
              <a:ext uri="{FF2B5EF4-FFF2-40B4-BE49-F238E27FC236}">
                <a16:creationId xmlns:a16="http://schemas.microsoft.com/office/drawing/2014/main" id="{EA5A94BC-1F49-DBCA-536E-DAF2BD0FCF56}"/>
              </a:ext>
            </a:extLst>
          </p:cNvPr>
          <p:cNvSpPr>
            <a:spLocks noGrp="1"/>
          </p:cNvSpPr>
          <p:nvPr>
            <p:ph type="title"/>
          </p:nvPr>
        </p:nvSpPr>
        <p:spPr>
          <a:xfrm>
            <a:off x="457200" y="118533"/>
            <a:ext cx="8229600" cy="1143000"/>
          </a:xfrm>
        </p:spPr>
        <p:txBody>
          <a:bodyPr/>
          <a:lstStyle/>
          <a:p>
            <a:pPr algn="ctr"/>
            <a:r>
              <a:rPr lang="en-IN" b="1" dirty="0"/>
              <a:t>METHODOLOGY</a:t>
            </a:r>
            <a:endParaRPr lang="en-IN" dirty="0"/>
          </a:p>
        </p:txBody>
      </p:sp>
      <p:pic>
        <p:nvPicPr>
          <p:cNvPr id="9" name="image1.png">
            <a:extLst>
              <a:ext uri="{FF2B5EF4-FFF2-40B4-BE49-F238E27FC236}">
                <a16:creationId xmlns:a16="http://schemas.microsoft.com/office/drawing/2014/main" id="{87222BF9-8B8B-37B2-7EAC-2AF0AEB31A36}"/>
              </a:ext>
            </a:extLst>
          </p:cNvPr>
          <p:cNvPicPr/>
          <p:nvPr/>
        </p:nvPicPr>
        <p:blipFill>
          <a:blip r:embed="rId3"/>
          <a:stretch>
            <a:fillRect/>
          </a:stretch>
        </p:blipFill>
        <p:spPr>
          <a:xfrm>
            <a:off x="457200" y="7129"/>
            <a:ext cx="1447560" cy="914040"/>
          </a:xfrm>
          <a:prstGeom prst="rect">
            <a:avLst/>
          </a:prstGeom>
          <a:noFill/>
          <a:ln w="0">
            <a:noFill/>
          </a:ln>
        </p:spPr>
      </p:pic>
    </p:spTree>
    <p:extLst>
      <p:ext uri="{BB962C8B-B14F-4D97-AF65-F5344CB8AC3E}">
        <p14:creationId xmlns:p14="http://schemas.microsoft.com/office/powerpoint/2010/main" val="648664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p:nvPr>
        </p:nvSpPr>
        <p:spPr>
          <a:xfrm>
            <a:off x="457200" y="1356851"/>
            <a:ext cx="8228965" cy="5172853"/>
          </a:xfrm>
        </p:spPr>
        <p:txBody>
          <a:bodyPr/>
          <a:lstStyle/>
          <a:p>
            <a:pPr>
              <a:lnSpc>
                <a:spcPct val="100000"/>
              </a:lnSpc>
            </a:pPr>
            <a:r>
              <a:rPr lang="en-US" altLang="en-US" sz="1800" b="1" dirty="0"/>
              <a:t>[1] Input Image Selection</a:t>
            </a:r>
          </a:p>
          <a:p>
            <a:pPr>
              <a:lnSpc>
                <a:spcPct val="100000"/>
              </a:lnSpc>
            </a:pPr>
            <a:r>
              <a:rPr lang="en-US" altLang="en-US" sz="1800" dirty="0"/>
              <a:t>The original image is selected and converted into a digital format suitable for </a:t>
            </a:r>
          </a:p>
          <a:p>
            <a:pPr>
              <a:lnSpc>
                <a:spcPct val="100000"/>
              </a:lnSpc>
            </a:pPr>
            <a:r>
              <a:rPr lang="en-US" altLang="en-US" sz="1800" dirty="0"/>
              <a:t> transmission.</a:t>
            </a:r>
          </a:p>
          <a:p>
            <a:pPr>
              <a:lnSpc>
                <a:spcPct val="100000"/>
              </a:lnSpc>
            </a:pPr>
            <a:endParaRPr lang="en-US" altLang="en-US" sz="1800" dirty="0"/>
          </a:p>
          <a:p>
            <a:pPr>
              <a:lnSpc>
                <a:spcPct val="100000"/>
              </a:lnSpc>
            </a:pPr>
            <a:r>
              <a:rPr lang="en-US" altLang="en-US" sz="1800" b="1" dirty="0"/>
              <a:t>[2 ]Image to Binary Conversion</a:t>
            </a:r>
          </a:p>
          <a:p>
            <a:pPr>
              <a:lnSpc>
                <a:spcPct val="100000"/>
              </a:lnSpc>
            </a:pPr>
            <a:r>
              <a:rPr lang="en-US" altLang="en-US" sz="1800" dirty="0"/>
              <a:t>The image pixels are converted into a binary data stream for modulation.</a:t>
            </a:r>
          </a:p>
          <a:p>
            <a:pPr>
              <a:lnSpc>
                <a:spcPct val="100000"/>
              </a:lnSpc>
            </a:pPr>
            <a:endParaRPr lang="en-US" altLang="en-US" sz="1800" dirty="0"/>
          </a:p>
          <a:p>
            <a:pPr>
              <a:lnSpc>
                <a:spcPct val="100000"/>
              </a:lnSpc>
            </a:pPr>
            <a:r>
              <a:rPr lang="en-US" altLang="en-US" sz="1800" b="1" dirty="0"/>
              <a:t>[3] DWT-Based OFDM Modulation</a:t>
            </a:r>
          </a:p>
          <a:p>
            <a:pPr>
              <a:lnSpc>
                <a:spcPct val="100000"/>
              </a:lnSpc>
            </a:pPr>
            <a:r>
              <a:rPr lang="en-US" altLang="en-US" sz="1800" dirty="0"/>
              <a:t>Discrete Wavelet Transform (DWT) is applied instead of FFT to generate OFDM</a:t>
            </a:r>
          </a:p>
          <a:p>
            <a:pPr>
              <a:lnSpc>
                <a:spcPct val="100000"/>
              </a:lnSpc>
            </a:pPr>
            <a:r>
              <a:rPr lang="en-US" altLang="en-US" sz="1800" dirty="0"/>
              <a:t> subcarriers and modulate the data.</a:t>
            </a:r>
          </a:p>
          <a:p>
            <a:pPr>
              <a:lnSpc>
                <a:spcPct val="100000"/>
              </a:lnSpc>
            </a:pPr>
            <a:endParaRPr lang="en-US" altLang="en-US" sz="1800" dirty="0"/>
          </a:p>
          <a:p>
            <a:pPr>
              <a:lnSpc>
                <a:spcPct val="100000"/>
              </a:lnSpc>
            </a:pPr>
            <a:r>
              <a:rPr lang="en-US" altLang="en-US" sz="1800" b="1" dirty="0"/>
              <a:t>[4] Pilot Insertion for Channel Estimation</a:t>
            </a:r>
          </a:p>
          <a:p>
            <a:pPr>
              <a:lnSpc>
                <a:spcPct val="100000"/>
              </a:lnSpc>
            </a:pPr>
            <a:r>
              <a:rPr lang="en-US" altLang="en-US" sz="1800" dirty="0"/>
              <a:t>Pilot symbols are inserted into the transmitted signal to estimate channel characteristics.</a:t>
            </a:r>
          </a:p>
        </p:txBody>
      </p:sp>
      <p:sp>
        <p:nvSpPr>
          <p:cNvPr id="4" name="Title 3"/>
          <p:cNvSpPr>
            <a:spLocks noGrp="1"/>
          </p:cNvSpPr>
          <p:nvPr>
            <p:ph type="title"/>
          </p:nvPr>
        </p:nvSpPr>
        <p:spPr>
          <a:xfrm>
            <a:off x="457200" y="249555"/>
            <a:ext cx="8228965" cy="814070"/>
          </a:xfrm>
        </p:spPr>
        <p:txBody>
          <a:bodyPr/>
          <a:lstStyle/>
          <a:p>
            <a:r>
              <a:rPr lang="en-IN" dirty="0"/>
              <a:t>            </a:t>
            </a:r>
            <a:r>
              <a:rPr lang="en-IN" sz="3600" dirty="0"/>
              <a:t>       </a:t>
            </a:r>
            <a:r>
              <a:rPr lang="en-IN" b="1" dirty="0"/>
              <a:t>METHODOLOGY</a:t>
            </a:r>
          </a:p>
        </p:txBody>
      </p:sp>
      <p:pic>
        <p:nvPicPr>
          <p:cNvPr id="6" name="image1.png"/>
          <p:cNvPicPr/>
          <p:nvPr/>
        </p:nvPicPr>
        <p:blipFill>
          <a:blip r:embed="rId2"/>
          <a:stretch>
            <a:fillRect/>
          </a:stretch>
        </p:blipFill>
        <p:spPr>
          <a:xfrm>
            <a:off x="457200" y="7129"/>
            <a:ext cx="1447560" cy="91404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6CE4C-0697-0F74-EB75-D92E886A4996}"/>
              </a:ext>
            </a:extLst>
          </p:cNvPr>
          <p:cNvSpPr>
            <a:spLocks noGrp="1"/>
          </p:cNvSpPr>
          <p:nvPr>
            <p:ph type="title"/>
          </p:nvPr>
        </p:nvSpPr>
        <p:spPr>
          <a:xfrm>
            <a:off x="457200" y="350624"/>
            <a:ext cx="8229240" cy="1142640"/>
          </a:xfrm>
        </p:spPr>
        <p:txBody>
          <a:bodyPr/>
          <a:lstStyle/>
          <a:p>
            <a:pPr algn="ctr"/>
            <a:r>
              <a:rPr lang="en-US" b="1" dirty="0"/>
              <a:t>METHODOLOGY</a:t>
            </a:r>
            <a:endParaRPr lang="en-IN" b="1" dirty="0"/>
          </a:p>
        </p:txBody>
      </p:sp>
      <p:pic>
        <p:nvPicPr>
          <p:cNvPr id="4" name="image1.png">
            <a:extLst>
              <a:ext uri="{FF2B5EF4-FFF2-40B4-BE49-F238E27FC236}">
                <a16:creationId xmlns:a16="http://schemas.microsoft.com/office/drawing/2014/main" id="{3B65786B-72DD-9953-5DED-CE9AEE9C21BE}"/>
              </a:ext>
            </a:extLst>
          </p:cNvPr>
          <p:cNvPicPr/>
          <p:nvPr/>
        </p:nvPicPr>
        <p:blipFill>
          <a:blip r:embed="rId2"/>
          <a:stretch>
            <a:fillRect/>
          </a:stretch>
        </p:blipFill>
        <p:spPr>
          <a:xfrm>
            <a:off x="457200" y="293564"/>
            <a:ext cx="1447560" cy="914040"/>
          </a:xfrm>
          <a:prstGeom prst="rect">
            <a:avLst/>
          </a:prstGeom>
          <a:noFill/>
          <a:ln w="0">
            <a:noFill/>
          </a:ln>
        </p:spPr>
      </p:pic>
      <p:sp>
        <p:nvSpPr>
          <p:cNvPr id="5" name="TextBox 4">
            <a:extLst>
              <a:ext uri="{FF2B5EF4-FFF2-40B4-BE49-F238E27FC236}">
                <a16:creationId xmlns:a16="http://schemas.microsoft.com/office/drawing/2014/main" id="{0549EBEE-00DC-09F7-4179-F484831BC4C2}"/>
              </a:ext>
            </a:extLst>
          </p:cNvPr>
          <p:cNvSpPr txBox="1"/>
          <p:nvPr/>
        </p:nvSpPr>
        <p:spPr>
          <a:xfrm>
            <a:off x="457200" y="1778924"/>
            <a:ext cx="8229240" cy="3693319"/>
          </a:xfrm>
          <a:prstGeom prst="rect">
            <a:avLst/>
          </a:prstGeom>
          <a:noFill/>
        </p:spPr>
        <p:txBody>
          <a:bodyPr wrap="square" rtlCol="0">
            <a:spAutoFit/>
          </a:bodyPr>
          <a:lstStyle/>
          <a:p>
            <a:endParaRPr lang="en-US" altLang="en-US" dirty="0"/>
          </a:p>
          <a:p>
            <a:r>
              <a:rPr lang="en-US" altLang="en-US" b="1" dirty="0"/>
              <a:t>[5] Transmission Through Wireless Channel</a:t>
            </a:r>
          </a:p>
          <a:p>
            <a:r>
              <a:rPr lang="en-US" altLang="en-US" dirty="0"/>
              <a:t>The modulated signal is transmitted through a simulated noisy wireless channel.</a:t>
            </a:r>
          </a:p>
          <a:p>
            <a:endParaRPr lang="en-US" altLang="en-US" dirty="0"/>
          </a:p>
          <a:p>
            <a:r>
              <a:rPr lang="en-US" altLang="en-US" b="1" dirty="0"/>
              <a:t>[6] Channel Estimation and Equalization</a:t>
            </a:r>
          </a:p>
          <a:p>
            <a:r>
              <a:rPr lang="en-US" altLang="en-US" dirty="0"/>
              <a:t>At the receiver, channel estimation is performed to reduce channel distortion.</a:t>
            </a:r>
          </a:p>
          <a:p>
            <a:endParaRPr lang="en-US" altLang="en-US" dirty="0"/>
          </a:p>
          <a:p>
            <a:r>
              <a:rPr lang="en-US" altLang="en-US" b="1" dirty="0"/>
              <a:t>[7] OFDM Demodulation Using DWT</a:t>
            </a:r>
          </a:p>
          <a:p>
            <a:r>
              <a:rPr lang="en-US" altLang="en-US" dirty="0"/>
              <a:t>The received signal is demodulated using inverse DWT to recover transmitted data.</a:t>
            </a:r>
          </a:p>
          <a:p>
            <a:endParaRPr lang="en-US" altLang="en-US" dirty="0"/>
          </a:p>
          <a:p>
            <a:r>
              <a:rPr lang="en-US" altLang="en-US" b="1" dirty="0"/>
              <a:t>[8]Image Reconstruction</a:t>
            </a:r>
          </a:p>
          <a:p>
            <a:r>
              <a:rPr lang="en-US" altLang="en-US" dirty="0"/>
              <a:t>The binary data is converted back to pixel values to reconstruct the received image.</a:t>
            </a:r>
          </a:p>
          <a:p>
            <a:endParaRPr lang="en-IN" dirty="0"/>
          </a:p>
        </p:txBody>
      </p:sp>
    </p:spTree>
    <p:extLst>
      <p:ext uri="{BB962C8B-B14F-4D97-AF65-F5344CB8AC3E}">
        <p14:creationId xmlns:p14="http://schemas.microsoft.com/office/powerpoint/2010/main" val="2524713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EXISTING SYSTEMS</a:t>
            </a:r>
          </a:p>
        </p:txBody>
      </p:sp>
      <p:sp>
        <p:nvSpPr>
          <p:cNvPr id="3" name="Text Placeholder 2"/>
          <p:cNvSpPr>
            <a:spLocks noGrp="1"/>
          </p:cNvSpPr>
          <p:nvPr>
            <p:ph type="body"/>
          </p:nvPr>
        </p:nvSpPr>
        <p:spPr>
          <a:xfrm>
            <a:off x="457200" y="1908933"/>
            <a:ext cx="8228965" cy="4493895"/>
          </a:xfrm>
        </p:spPr>
        <p:txBody>
          <a:bodyPr/>
          <a:lstStyle/>
          <a:p>
            <a:pPr>
              <a:lnSpc>
                <a:spcPct val="100000"/>
              </a:lnSpc>
            </a:pPr>
            <a:r>
              <a:rPr lang="en-US" altLang="en-US" sz="1800" dirty="0"/>
              <a:t>     </a:t>
            </a:r>
            <a:r>
              <a:rPr lang="en-US" altLang="en-US" sz="1800" b="1" dirty="0"/>
              <a:t>ADVANTAGES OF EXISTING SYSTEM</a:t>
            </a:r>
          </a:p>
          <a:p>
            <a:pPr>
              <a:lnSpc>
                <a:spcPct val="100000"/>
              </a:lnSpc>
            </a:pPr>
            <a:endParaRPr lang="en-US" altLang="en-US" sz="500" dirty="0"/>
          </a:p>
          <a:p>
            <a:pPr marL="285750" indent="-285750">
              <a:lnSpc>
                <a:spcPct val="100000"/>
              </a:lnSpc>
              <a:buFont typeface="Arial" panose="020B0604020202020204" pitchFamily="34" charset="0"/>
              <a:buChar char="•"/>
            </a:pPr>
            <a:r>
              <a:rPr lang="en-US" altLang="en-US" sz="1800" dirty="0"/>
              <a:t>Image transmission using FFT-based OFDM.</a:t>
            </a:r>
          </a:p>
          <a:p>
            <a:pPr marL="285750" indent="-285750">
              <a:lnSpc>
                <a:spcPct val="100000"/>
              </a:lnSpc>
              <a:buFont typeface="Arial" panose="020B0604020202020204" pitchFamily="34" charset="0"/>
              <a:buChar char="•"/>
            </a:pPr>
            <a:r>
              <a:rPr lang="en-US" altLang="en-US" sz="1800" dirty="0"/>
              <a:t>Limited resistance to noise and fading.</a:t>
            </a:r>
          </a:p>
          <a:p>
            <a:pPr marL="285750" indent="-285750">
              <a:lnSpc>
                <a:spcPct val="100000"/>
              </a:lnSpc>
              <a:buFont typeface="Arial" panose="020B0604020202020204" pitchFamily="34" charset="0"/>
              <a:buChar char="•"/>
            </a:pPr>
            <a:r>
              <a:rPr lang="en-US" altLang="en-US" sz="1800" dirty="0"/>
              <a:t>Higher PAPR.</a:t>
            </a:r>
          </a:p>
          <a:p>
            <a:pPr marL="285750" indent="-285750">
              <a:lnSpc>
                <a:spcPct val="100000"/>
              </a:lnSpc>
              <a:buFont typeface="Arial" panose="020B0604020202020204" pitchFamily="34" charset="0"/>
              <a:buChar char="•"/>
            </a:pPr>
            <a:r>
              <a:rPr lang="en-US" altLang="en-US" sz="1800" dirty="0"/>
              <a:t>Basic channel estimation techniques</a:t>
            </a:r>
          </a:p>
          <a:p>
            <a:pPr marL="285750" indent="-285750">
              <a:lnSpc>
                <a:spcPct val="100000"/>
              </a:lnSpc>
              <a:buFont typeface="Arial" panose="020B0604020202020204" pitchFamily="34" charset="0"/>
              <a:buChar char="•"/>
            </a:pPr>
            <a:endParaRPr lang="en-US" altLang="en-US" sz="1800" dirty="0"/>
          </a:p>
          <a:p>
            <a:pPr marL="0" indent="0">
              <a:lnSpc>
                <a:spcPct val="100000"/>
              </a:lnSpc>
              <a:buNone/>
            </a:pPr>
            <a:r>
              <a:rPr lang="en-US" altLang="en-US" dirty="0"/>
              <a:t>  </a:t>
            </a:r>
            <a:r>
              <a:rPr lang="en-US" altLang="en-US" sz="1800" b="1" dirty="0"/>
              <a:t>DISADVANTAGES OF EXISTING SYSTEM:</a:t>
            </a:r>
            <a:endParaRPr lang="en-US" altLang="en-US" sz="1800" dirty="0"/>
          </a:p>
          <a:p>
            <a:pPr marL="285750" indent="-285750">
              <a:lnSpc>
                <a:spcPct val="100000"/>
              </a:lnSpc>
              <a:buFont typeface="Arial" panose="020B0604020202020204" pitchFamily="34" charset="0"/>
              <a:buChar char="•"/>
            </a:pPr>
            <a:r>
              <a:rPr lang="en-US" altLang="en-US" sz="1800" dirty="0"/>
              <a:t>Degraded image quality under noise.</a:t>
            </a:r>
          </a:p>
          <a:p>
            <a:pPr marL="285750" indent="-285750">
              <a:lnSpc>
                <a:spcPct val="100000"/>
              </a:lnSpc>
              <a:buFont typeface="Arial" panose="020B0604020202020204" pitchFamily="34" charset="0"/>
              <a:buChar char="•"/>
            </a:pPr>
            <a:r>
              <a:rPr lang="en-US" altLang="en-US" sz="1800" dirty="0"/>
              <a:t>High PAPR causing power inefficiency.</a:t>
            </a:r>
          </a:p>
          <a:p>
            <a:pPr marL="285750" indent="-285750">
              <a:lnSpc>
                <a:spcPct val="100000"/>
              </a:lnSpc>
              <a:buFont typeface="Arial" panose="020B0604020202020204" pitchFamily="34" charset="0"/>
              <a:buChar char="•"/>
            </a:pPr>
            <a:r>
              <a:rPr lang="en-US" altLang="en-US" sz="1800" dirty="0"/>
              <a:t>Spectral leakage.</a:t>
            </a:r>
          </a:p>
          <a:p>
            <a:pPr marL="285750" indent="-285750">
              <a:lnSpc>
                <a:spcPct val="100000"/>
              </a:lnSpc>
              <a:buFont typeface="Arial" panose="020B0604020202020204" pitchFamily="34" charset="0"/>
              <a:buChar char="•"/>
            </a:pPr>
            <a:r>
              <a:rPr lang="en-US" altLang="en-US" sz="1800" dirty="0"/>
              <a:t>Reduced performance in multipath channels.</a:t>
            </a:r>
            <a:br>
              <a:rPr lang="en-US" dirty="0"/>
            </a:br>
            <a:endParaRPr lang="en-IN" dirty="0"/>
          </a:p>
        </p:txBody>
      </p:sp>
      <p:pic>
        <p:nvPicPr>
          <p:cNvPr id="4" name="image1.png"/>
          <p:cNvPicPr/>
          <p:nvPr/>
        </p:nvPicPr>
        <p:blipFill>
          <a:blip r:embed="rId2"/>
          <a:stretch>
            <a:fillRect/>
          </a:stretch>
        </p:blipFill>
        <p:spPr>
          <a:xfrm>
            <a:off x="457200" y="293564"/>
            <a:ext cx="1447560" cy="91404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b="1" dirty="0"/>
              <a:t>             PROPOSED SYSTEM</a:t>
            </a:r>
          </a:p>
        </p:txBody>
      </p:sp>
      <p:sp>
        <p:nvSpPr>
          <p:cNvPr id="3" name="Text Placeholder 2"/>
          <p:cNvSpPr>
            <a:spLocks noGrp="1"/>
          </p:cNvSpPr>
          <p:nvPr>
            <p:ph type="body" idx="4294967295"/>
          </p:nvPr>
        </p:nvSpPr>
        <p:spPr>
          <a:xfrm>
            <a:off x="457835" y="1510030"/>
            <a:ext cx="7771765" cy="4091305"/>
          </a:xfrm>
          <a:prstGeom prst="rect">
            <a:avLst/>
          </a:prstGeom>
        </p:spPr>
        <p:txBody>
          <a:bodyPr>
            <a:normAutofit/>
          </a:bodyPr>
          <a:lstStyle/>
          <a:p>
            <a:pPr marL="0" indent="0">
              <a:buNone/>
            </a:pPr>
            <a:r>
              <a:rPr lang="en-US" altLang="en-US" sz="1800" dirty="0"/>
              <a:t>The proposed system uses DWT-based OFDM for image transmission. The input image is converted into a binary data stream and modulated using DWT-based OFDM. Pilot symbols are inserted for channel estimation. At the receiver, channel estimation and equalization are performed to reduce channel distortion. The received data is demodulated and reconstructed into the original image. This approach improves spectral efficiency and image quality.</a:t>
            </a:r>
            <a:br>
              <a:rPr lang="en-US" sz="1800" dirty="0"/>
            </a:br>
            <a:endParaRPr lang="en-US" sz="1800" dirty="0"/>
          </a:p>
          <a:p>
            <a:pPr marL="0" indent="0">
              <a:buNone/>
            </a:pPr>
            <a:r>
              <a:rPr lang="en-US" altLang="en-US" sz="1800" b="1" dirty="0"/>
              <a:t>ADVANTAGES OF PROPOSED SYSTEM:</a:t>
            </a:r>
          </a:p>
          <a:p>
            <a:r>
              <a:rPr lang="en-US" altLang="en-US" sz="1800" dirty="0"/>
              <a:t>Improved image quality.</a:t>
            </a:r>
          </a:p>
          <a:p>
            <a:r>
              <a:rPr lang="en-US" altLang="en-US" sz="1800" dirty="0"/>
              <a:t>Reduced PAPR.</a:t>
            </a:r>
          </a:p>
          <a:p>
            <a:r>
              <a:rPr lang="en-US" altLang="en-US" sz="1800" dirty="0"/>
              <a:t>Better spectral efficiency.</a:t>
            </a:r>
          </a:p>
          <a:p>
            <a:r>
              <a:rPr lang="en-US" altLang="en-US" sz="1800" dirty="0"/>
              <a:t>Improved performance in noisy channels.</a:t>
            </a:r>
          </a:p>
          <a:p>
            <a:r>
              <a:rPr lang="en-US" altLang="en-US" sz="1800" dirty="0"/>
              <a:t>Simple and efficient implementation.</a:t>
            </a:r>
          </a:p>
        </p:txBody>
      </p:sp>
      <p:pic>
        <p:nvPicPr>
          <p:cNvPr id="6" name="image1.png"/>
          <p:cNvPicPr/>
          <p:nvPr/>
        </p:nvPicPr>
        <p:blipFill>
          <a:blip r:embed="rId2"/>
          <a:stretch>
            <a:fillRect/>
          </a:stretch>
        </p:blipFill>
        <p:spPr>
          <a:xfrm>
            <a:off x="383309" y="275220"/>
            <a:ext cx="1447560" cy="91404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33B6B-2798-85FC-3A8C-95C590A7A708}"/>
              </a:ext>
            </a:extLst>
          </p:cNvPr>
          <p:cNvSpPr>
            <a:spLocks noGrp="1"/>
          </p:cNvSpPr>
          <p:nvPr>
            <p:ph type="title"/>
          </p:nvPr>
        </p:nvSpPr>
        <p:spPr/>
        <p:txBody>
          <a:bodyPr/>
          <a:lstStyle/>
          <a:p>
            <a:pPr algn="ctr"/>
            <a:r>
              <a:rPr lang="en-US" b="1" dirty="0"/>
              <a:t>TOOLS REQUIRED</a:t>
            </a:r>
            <a:endParaRPr lang="en-IN" b="1" dirty="0"/>
          </a:p>
        </p:txBody>
      </p:sp>
      <p:sp>
        <p:nvSpPr>
          <p:cNvPr id="3" name="Text Placeholder 2">
            <a:extLst>
              <a:ext uri="{FF2B5EF4-FFF2-40B4-BE49-F238E27FC236}">
                <a16:creationId xmlns:a16="http://schemas.microsoft.com/office/drawing/2014/main" id="{8FE9A9AF-3B98-2EA3-FDAF-D8EFC01E2274}"/>
              </a:ext>
            </a:extLst>
          </p:cNvPr>
          <p:cNvSpPr>
            <a:spLocks noGrp="1"/>
          </p:cNvSpPr>
          <p:nvPr>
            <p:ph type="body"/>
          </p:nvPr>
        </p:nvSpPr>
        <p:spPr>
          <a:xfrm>
            <a:off x="457200" y="1731952"/>
            <a:ext cx="8229240" cy="4525560"/>
          </a:xfrm>
        </p:spPr>
        <p:txBody>
          <a:bodyPr/>
          <a:lstStyle/>
          <a:p>
            <a:pPr marL="285750" indent="-285750">
              <a:lnSpc>
                <a:spcPct val="100000"/>
              </a:lnSpc>
              <a:buFont typeface="Arial" panose="020B0604020202020204" pitchFamily="34" charset="0"/>
              <a:buChar char="•"/>
            </a:pPr>
            <a:r>
              <a:rPr lang="en-US" sz="1800" dirty="0"/>
              <a:t>MATLAB – Primary simulation and development environment for signal processing and image analysis.</a:t>
            </a:r>
          </a:p>
          <a:p>
            <a:pPr marL="285750" indent="-285750">
              <a:lnSpc>
                <a:spcPct val="100000"/>
              </a:lnSpc>
              <a:buFont typeface="Arial" panose="020B0604020202020204" pitchFamily="34" charset="0"/>
              <a:buChar char="•"/>
            </a:pPr>
            <a:r>
              <a:rPr lang="en-IN" sz="1800" dirty="0"/>
              <a:t>Image Processing Toolbox - </a:t>
            </a:r>
            <a:r>
              <a:rPr lang="en-US" sz="1800" dirty="0"/>
              <a:t>For reading, displaying, and processing grayscale images.</a:t>
            </a:r>
          </a:p>
          <a:p>
            <a:pPr marL="285750" indent="-285750">
              <a:lnSpc>
                <a:spcPct val="100000"/>
              </a:lnSpc>
              <a:buFont typeface="Arial" panose="020B0604020202020204" pitchFamily="34" charset="0"/>
              <a:buChar char="•"/>
            </a:pPr>
            <a:r>
              <a:rPr lang="en-US" sz="1800" dirty="0"/>
              <a:t>Communications Toolbox – For modulation (QPSK), channel modeling (AWGN), and channel estimation.</a:t>
            </a:r>
          </a:p>
          <a:p>
            <a:pPr marL="285750" indent="-285750">
              <a:lnSpc>
                <a:spcPct val="100000"/>
              </a:lnSpc>
              <a:buFont typeface="Arial" panose="020B0604020202020204" pitchFamily="34" charset="0"/>
              <a:buChar char="•"/>
            </a:pPr>
            <a:r>
              <a:rPr lang="en-US" sz="1800" dirty="0"/>
              <a:t>Wavelet Toolbox – For implementing DWT (Haar wavelet) and IDWT operations.</a:t>
            </a:r>
          </a:p>
          <a:p>
            <a:pPr marL="285750" indent="-285750">
              <a:lnSpc>
                <a:spcPct val="100000"/>
              </a:lnSpc>
              <a:buFont typeface="Arial" panose="020B0604020202020204" pitchFamily="34" charset="0"/>
              <a:buChar char="•"/>
            </a:pPr>
            <a:r>
              <a:rPr lang="en-US" sz="1800" dirty="0"/>
              <a:t>MATLAB GUIDE / UI control – For building the interactive Graphical User Interface (GUI).</a:t>
            </a:r>
          </a:p>
        </p:txBody>
      </p:sp>
      <p:pic>
        <p:nvPicPr>
          <p:cNvPr id="4" name="Picture 3">
            <a:extLst>
              <a:ext uri="{FF2B5EF4-FFF2-40B4-BE49-F238E27FC236}">
                <a16:creationId xmlns:a16="http://schemas.microsoft.com/office/drawing/2014/main" id="{337DCFBA-9115-F270-8D7B-189F0D45EFB8}"/>
              </a:ext>
            </a:extLst>
          </p:cNvPr>
          <p:cNvPicPr>
            <a:picLocks noChangeAspect="1"/>
          </p:cNvPicPr>
          <p:nvPr/>
        </p:nvPicPr>
        <p:blipFill>
          <a:blip r:embed="rId2"/>
          <a:stretch>
            <a:fillRect/>
          </a:stretch>
        </p:blipFill>
        <p:spPr>
          <a:xfrm>
            <a:off x="249111" y="382411"/>
            <a:ext cx="1444877" cy="914479"/>
          </a:xfrm>
          <a:prstGeom prst="rect">
            <a:avLst/>
          </a:prstGeom>
        </p:spPr>
      </p:pic>
    </p:spTree>
    <p:extLst>
      <p:ext uri="{BB962C8B-B14F-4D97-AF65-F5344CB8AC3E}">
        <p14:creationId xmlns:p14="http://schemas.microsoft.com/office/powerpoint/2010/main" val="1882262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537F-E427-EE4D-53F6-E0EAEAB3C942}"/>
              </a:ext>
            </a:extLst>
          </p:cNvPr>
          <p:cNvSpPr>
            <a:spLocks noGrp="1"/>
          </p:cNvSpPr>
          <p:nvPr>
            <p:ph type="title"/>
          </p:nvPr>
        </p:nvSpPr>
        <p:spPr>
          <a:xfrm>
            <a:off x="457380" y="321339"/>
            <a:ext cx="8229240" cy="821802"/>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2B241195-1E8F-47F0-855E-7B51F1322EE2}"/>
              </a:ext>
            </a:extLst>
          </p:cNvPr>
          <p:cNvSpPr>
            <a:spLocks noGrp="1"/>
          </p:cNvSpPr>
          <p:nvPr>
            <p:ph type="body"/>
          </p:nvPr>
        </p:nvSpPr>
        <p:spPr>
          <a:xfrm>
            <a:off x="457380" y="1276109"/>
            <a:ext cx="8229240" cy="4525560"/>
          </a:xfrm>
        </p:spPr>
        <p:txBody>
          <a:bodyPr/>
          <a:lstStyle/>
          <a:p>
            <a:pPr marL="0" indent="0">
              <a:buNone/>
            </a:pPr>
            <a:r>
              <a:rPr lang="en-US" sz="1400" dirty="0"/>
              <a:t>function </a:t>
            </a:r>
            <a:r>
              <a:rPr lang="en-US" sz="1400" dirty="0" err="1"/>
              <a:t>main_code</a:t>
            </a:r>
            <a:endParaRPr lang="en-US" sz="1400" dirty="0"/>
          </a:p>
          <a:p>
            <a:pPr marL="0" indent="0">
              <a:buNone/>
            </a:pPr>
            <a:r>
              <a:rPr lang="en-US" sz="1400" dirty="0" err="1"/>
              <a:t>clc</a:t>
            </a:r>
            <a:r>
              <a:rPr lang="en-US" sz="1400" dirty="0"/>
              <a:t>; close all;</a:t>
            </a:r>
            <a:endParaRPr lang="en-IN" sz="1400" dirty="0"/>
          </a:p>
          <a:p>
            <a:pPr marL="0" indent="0">
              <a:buNone/>
            </a:pPr>
            <a:r>
              <a:rPr lang="en-IN" sz="1400" dirty="0"/>
              <a:t>%% ===================FIGURE===================</a:t>
            </a:r>
          </a:p>
          <a:p>
            <a:pPr marL="0" indent="0">
              <a:buNone/>
            </a:pPr>
            <a:r>
              <a:rPr lang="en-IN" sz="1400" dirty="0"/>
              <a:t>f = figure('</a:t>
            </a:r>
            <a:r>
              <a:rPr lang="en-IN" sz="1400" dirty="0" err="1"/>
              <a:t>Name','DWT</a:t>
            </a:r>
            <a:r>
              <a:rPr lang="en-IN" sz="1400" dirty="0"/>
              <a:t>-OFDM Image Transmission',...</a:t>
            </a:r>
          </a:p>
          <a:p>
            <a:pPr marL="0" indent="0">
              <a:buNone/>
            </a:pPr>
            <a:r>
              <a:rPr lang="en-IN" sz="1400" dirty="0"/>
              <a:t>    'Position',[100 50 1200 650],'</a:t>
            </a:r>
            <a:r>
              <a:rPr lang="en-IN" sz="1400" dirty="0" err="1"/>
              <a:t>Color</a:t>
            </a:r>
            <a:r>
              <a:rPr lang="en-IN" sz="1400" dirty="0"/>
              <a:t>',[0.95 0.95 0.95]);</a:t>
            </a:r>
          </a:p>
          <a:p>
            <a:pPr marL="0" indent="0">
              <a:buNone/>
            </a:pPr>
            <a:r>
              <a:rPr lang="en-IN" sz="1400" dirty="0"/>
              <a:t>%%=================== AXES====================</a:t>
            </a:r>
          </a:p>
          <a:p>
            <a:pPr marL="0" indent="0">
              <a:buNone/>
            </a:pPr>
            <a:r>
              <a:rPr lang="en-IN" sz="1400" dirty="0"/>
              <a:t>handles.ax1 = axes('</a:t>
            </a:r>
            <a:r>
              <a:rPr lang="en-IN" sz="1400" dirty="0" err="1"/>
              <a:t>Parent',f,'Position</a:t>
            </a:r>
            <a:r>
              <a:rPr lang="en-IN" sz="1400" dirty="0"/>
              <a:t>',[0.05 0.55 0.2 0.35]); % Original</a:t>
            </a:r>
          </a:p>
          <a:p>
            <a:pPr marL="0" indent="0">
              <a:buNone/>
            </a:pPr>
            <a:r>
              <a:rPr lang="en-IN" sz="1400" dirty="0"/>
              <a:t>title('Original Image')</a:t>
            </a:r>
          </a:p>
          <a:p>
            <a:pPr marL="0" indent="0">
              <a:buNone/>
            </a:pPr>
            <a:r>
              <a:rPr lang="en-IN" sz="1400" dirty="0"/>
              <a:t>handles.ax2 = axes('</a:t>
            </a:r>
            <a:r>
              <a:rPr lang="en-IN" sz="1400" dirty="0" err="1"/>
              <a:t>Parent',f,'Position</a:t>
            </a:r>
            <a:r>
              <a:rPr lang="en-IN" sz="1400" dirty="0"/>
              <a:t>',[0.28 0.55 0.2 0.35]); % TX Signal</a:t>
            </a:r>
          </a:p>
          <a:p>
            <a:pPr marL="0" indent="0">
              <a:buNone/>
            </a:pPr>
            <a:r>
              <a:rPr lang="en-IN" sz="1400" dirty="0"/>
              <a:t>title('Transmitter Output');</a:t>
            </a:r>
          </a:p>
          <a:p>
            <a:pPr marL="0" indent="0">
              <a:buNone/>
            </a:pPr>
            <a:r>
              <a:rPr lang="en-IN" sz="1400" dirty="0"/>
              <a:t>handles.ax3 = axes('</a:t>
            </a:r>
            <a:r>
              <a:rPr lang="en-IN" sz="1400" dirty="0" err="1"/>
              <a:t>Parent',f,'Position</a:t>
            </a:r>
            <a:r>
              <a:rPr lang="en-IN" sz="1400" dirty="0"/>
              <a:t>',[0.51 0.55 0.2 0.35]); % Channel</a:t>
            </a:r>
          </a:p>
          <a:p>
            <a:pPr marL="0" indent="0">
              <a:buNone/>
            </a:pPr>
            <a:r>
              <a:rPr lang="en-IN" sz="1400" dirty="0"/>
              <a:t>title('Channel Output');</a:t>
            </a:r>
          </a:p>
          <a:p>
            <a:pPr marL="0" indent="0">
              <a:buNone/>
            </a:pPr>
            <a:r>
              <a:rPr lang="en-IN" sz="1400" dirty="0"/>
              <a:t>handles.ax4 = axes('</a:t>
            </a:r>
            <a:r>
              <a:rPr lang="en-IN" sz="1400" dirty="0" err="1"/>
              <a:t>Parent',f,'Position</a:t>
            </a:r>
            <a:r>
              <a:rPr lang="en-IN" sz="1400" dirty="0"/>
              <a:t>',[0.74 0.55 0.2 0.35]); % Received Image</a:t>
            </a:r>
          </a:p>
          <a:p>
            <a:pPr marL="0" indent="0">
              <a:buNone/>
            </a:pPr>
            <a:r>
              <a:rPr lang="en-IN" sz="1400" dirty="0"/>
              <a:t>title('Received Image');</a:t>
            </a:r>
          </a:p>
          <a:p>
            <a:pPr marL="0" indent="0">
              <a:buNone/>
            </a:pPr>
            <a:r>
              <a:rPr lang="en-IN" sz="1400" dirty="0"/>
              <a:t>handles.ax5 = axes('</a:t>
            </a:r>
            <a:r>
              <a:rPr lang="en-IN" sz="1400" dirty="0" err="1"/>
              <a:t>Parent',f,'Position</a:t>
            </a:r>
            <a:r>
              <a:rPr lang="en-IN" sz="1400" dirty="0"/>
              <a:t>',[0.3 0.1 0.4 0.3]); % Performance Graph</a:t>
            </a:r>
          </a:p>
          <a:p>
            <a:pPr marL="0" indent="0">
              <a:buNone/>
            </a:pPr>
            <a:r>
              <a:rPr lang="en-IN" sz="1400" dirty="0"/>
              <a:t>title('Performance Graph');</a:t>
            </a:r>
          </a:p>
        </p:txBody>
      </p:sp>
      <p:pic>
        <p:nvPicPr>
          <p:cNvPr id="5" name="Picture 4">
            <a:extLst>
              <a:ext uri="{FF2B5EF4-FFF2-40B4-BE49-F238E27FC236}">
                <a16:creationId xmlns:a16="http://schemas.microsoft.com/office/drawing/2014/main" id="{A276689F-1665-A61C-25D2-32D3F481A658}"/>
              </a:ext>
            </a:extLst>
          </p:cNvPr>
          <p:cNvPicPr>
            <a:picLocks noChangeAspect="1"/>
          </p:cNvPicPr>
          <p:nvPr/>
        </p:nvPicPr>
        <p:blipFill>
          <a:blip r:embed="rId2"/>
          <a:stretch>
            <a:fillRect/>
          </a:stretch>
        </p:blipFill>
        <p:spPr>
          <a:xfrm>
            <a:off x="457380" y="136772"/>
            <a:ext cx="1444877" cy="914479"/>
          </a:xfrm>
          <a:prstGeom prst="rect">
            <a:avLst/>
          </a:prstGeom>
        </p:spPr>
      </p:pic>
    </p:spTree>
    <p:extLst>
      <p:ext uri="{BB962C8B-B14F-4D97-AF65-F5344CB8AC3E}">
        <p14:creationId xmlns:p14="http://schemas.microsoft.com/office/powerpoint/2010/main" val="852097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7604-5009-44E8-2B00-0F022285180C}"/>
              </a:ext>
            </a:extLst>
          </p:cNvPr>
          <p:cNvSpPr>
            <a:spLocks noGrp="1"/>
          </p:cNvSpPr>
          <p:nvPr>
            <p:ph type="title"/>
          </p:nvPr>
        </p:nvSpPr>
        <p:spPr>
          <a:xfrm>
            <a:off x="457200" y="274680"/>
            <a:ext cx="8229240" cy="891540"/>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29C56DC2-E64B-06EF-6989-B23638816ED8}"/>
              </a:ext>
            </a:extLst>
          </p:cNvPr>
          <p:cNvSpPr>
            <a:spLocks noGrp="1"/>
          </p:cNvSpPr>
          <p:nvPr>
            <p:ph type="body"/>
          </p:nvPr>
        </p:nvSpPr>
        <p:spPr>
          <a:xfrm>
            <a:off x="457200" y="1166220"/>
            <a:ext cx="8229240" cy="4525560"/>
          </a:xfrm>
        </p:spPr>
        <p:txBody>
          <a:bodyPr/>
          <a:lstStyle/>
          <a:p>
            <a:pPr marL="0" indent="0">
              <a:buNone/>
            </a:pPr>
            <a:r>
              <a:rPr lang="en-IN" sz="1400" dirty="0"/>
              <a:t>%% =================TITLE=========================</a:t>
            </a:r>
          </a:p>
          <a:p>
            <a:pPr marL="0" indent="0">
              <a:buNone/>
            </a:pPr>
            <a:r>
              <a:rPr lang="en-IN" sz="1400" dirty="0"/>
              <a:t>  </a:t>
            </a:r>
            <a:r>
              <a:rPr lang="en-IN" sz="1400" dirty="0" err="1"/>
              <a:t>uicontrol</a:t>
            </a:r>
            <a:r>
              <a:rPr lang="en-IN" sz="1400" dirty="0"/>
              <a:t>('</a:t>
            </a:r>
            <a:r>
              <a:rPr lang="en-IN" sz="1400" dirty="0" err="1"/>
              <a:t>Style','text','String','DWT</a:t>
            </a:r>
            <a:r>
              <a:rPr lang="en-IN" sz="1400" dirty="0"/>
              <a:t>-OFDM IMAGE TRANSMISSION SYSTEM',...</a:t>
            </a:r>
          </a:p>
          <a:p>
            <a:pPr marL="0" indent="0">
              <a:buNone/>
            </a:pPr>
            <a:r>
              <a:rPr lang="en-IN" sz="1400" dirty="0"/>
              <a:t>  '</a:t>
            </a:r>
            <a:r>
              <a:rPr lang="en-IN" sz="1400" dirty="0" err="1"/>
              <a:t>Units','normalized','Position</a:t>
            </a:r>
            <a:r>
              <a:rPr lang="en-IN" sz="1400" dirty="0"/>
              <a:t>',[0.3 0.95 0.4 0.05],...</a:t>
            </a:r>
          </a:p>
          <a:p>
            <a:pPr marL="0" indent="0">
              <a:buNone/>
            </a:pPr>
            <a:r>
              <a:rPr lang="en-IN" sz="1400" dirty="0"/>
              <a:t>   'FontSize',14,'FontWeight','bold','BackgroundColor',[0.23 0.4 0.15 0.06]);</a:t>
            </a:r>
          </a:p>
          <a:p>
            <a:pPr marL="0" indent="0">
              <a:buNone/>
            </a:pPr>
            <a:endParaRPr lang="en-IN" sz="1400" dirty="0"/>
          </a:p>
          <a:p>
            <a:pPr marL="0" indent="0">
              <a:buNone/>
            </a:pPr>
            <a:r>
              <a:rPr lang="en-IN" sz="1400" dirty="0"/>
              <a:t>%% ================BUTTONS=======================</a:t>
            </a:r>
          </a:p>
          <a:p>
            <a:pPr marL="0" indent="0">
              <a:buNone/>
            </a:pPr>
            <a:r>
              <a:rPr lang="en-IN" sz="1400" dirty="0"/>
              <a:t>  </a:t>
            </a:r>
            <a:r>
              <a:rPr lang="en-IN" sz="1400" dirty="0" err="1"/>
              <a:t>btn_color</a:t>
            </a:r>
            <a:r>
              <a:rPr lang="en-IN" sz="1400" dirty="0"/>
              <a:t> = [0.2 0.6 0.8];</a:t>
            </a:r>
          </a:p>
          <a:p>
            <a:pPr marL="0" indent="0">
              <a:buNone/>
            </a:pPr>
            <a:r>
              <a:rPr lang="en-IN" sz="1400" dirty="0"/>
              <a:t>  </a:t>
            </a:r>
            <a:r>
              <a:rPr lang="en-IN" sz="1400" dirty="0" err="1"/>
              <a:t>uicontrol</a:t>
            </a:r>
            <a:r>
              <a:rPr lang="en-IN" sz="1400" dirty="0"/>
              <a:t>('Style','pushbutton','String','1. Load Image',...</a:t>
            </a:r>
          </a:p>
          <a:p>
            <a:pPr marL="0" indent="0">
              <a:buNone/>
            </a:pPr>
            <a:r>
              <a:rPr lang="en-IN" sz="1400" dirty="0"/>
              <a:t>   '</a:t>
            </a:r>
            <a:r>
              <a:rPr lang="en-IN" sz="1400" dirty="0" err="1"/>
              <a:t>Units','normalized','Position</a:t>
            </a:r>
            <a:r>
              <a:rPr lang="en-IN" sz="1400" dirty="0"/>
              <a:t>',[0.06 0.45 0.17 0.06],...</a:t>
            </a:r>
          </a:p>
          <a:p>
            <a:pPr marL="0" indent="0">
              <a:buNone/>
            </a:pPr>
            <a:r>
              <a:rPr lang="en-IN" sz="1400" dirty="0"/>
              <a:t>   '</a:t>
            </a:r>
            <a:r>
              <a:rPr lang="en-IN" sz="1400" dirty="0" err="1"/>
              <a:t>BackgroundColor</a:t>
            </a:r>
            <a:r>
              <a:rPr lang="en-IN" sz="1400" dirty="0"/>
              <a:t>',btn_</a:t>
            </a:r>
            <a:r>
              <a:rPr lang="en-IN" sz="1400" dirty="0" err="1"/>
              <a:t>color</a:t>
            </a:r>
            <a:r>
              <a:rPr lang="en-IN" sz="1400" dirty="0"/>
              <a:t>,'Callback',@</a:t>
            </a:r>
            <a:r>
              <a:rPr lang="en-IN" sz="1400" dirty="0" err="1"/>
              <a:t>loadImage</a:t>
            </a:r>
            <a:r>
              <a:rPr lang="en-IN" sz="1400" dirty="0"/>
              <a:t>);</a:t>
            </a:r>
          </a:p>
          <a:p>
            <a:pPr marL="0" indent="0">
              <a:buNone/>
            </a:pPr>
            <a:r>
              <a:rPr lang="en-IN" sz="1400" dirty="0"/>
              <a:t>    </a:t>
            </a:r>
            <a:r>
              <a:rPr lang="en-IN" sz="1400" dirty="0" err="1"/>
              <a:t>uicontrol</a:t>
            </a:r>
            <a:r>
              <a:rPr lang="en-IN" sz="1400" dirty="0"/>
              <a:t>('Style','pushbutton','String','2. Transmitter',...</a:t>
            </a:r>
          </a:p>
          <a:p>
            <a:pPr marL="0" indent="0">
              <a:buNone/>
            </a:pPr>
            <a:r>
              <a:rPr lang="en-IN" sz="1400" dirty="0"/>
              <a:t>    '</a:t>
            </a:r>
            <a:r>
              <a:rPr lang="en-IN" sz="1400" dirty="0" err="1"/>
              <a:t>Units','normalized','Position</a:t>
            </a:r>
            <a:r>
              <a:rPr lang="en-IN" sz="1400" dirty="0"/>
              <a:t>',[0.3 0.45 0.17 0.06],...</a:t>
            </a:r>
          </a:p>
          <a:p>
            <a:pPr marL="0" indent="0">
              <a:buNone/>
            </a:pPr>
            <a:r>
              <a:rPr lang="en-IN" sz="1400" dirty="0"/>
              <a:t>    '</a:t>
            </a:r>
            <a:r>
              <a:rPr lang="en-IN" sz="1400" dirty="0" err="1"/>
              <a:t>BackgroundColor</a:t>
            </a:r>
            <a:r>
              <a:rPr lang="en-IN" sz="1400" dirty="0"/>
              <a:t>',btn_</a:t>
            </a:r>
            <a:r>
              <a:rPr lang="en-IN" sz="1400" dirty="0" err="1"/>
              <a:t>color</a:t>
            </a:r>
            <a:r>
              <a:rPr lang="en-IN" sz="1400" dirty="0"/>
              <a:t>,'</a:t>
            </a:r>
            <a:r>
              <a:rPr lang="en-IN" sz="1400" dirty="0" err="1"/>
              <a:t>Callback',@transmitter</a:t>
            </a:r>
            <a:r>
              <a:rPr lang="en-IN" sz="1400" dirty="0"/>
              <a:t>);</a:t>
            </a:r>
          </a:p>
          <a:p>
            <a:pPr marL="0" indent="0">
              <a:buNone/>
            </a:pPr>
            <a:r>
              <a:rPr lang="en-IN" sz="1400" dirty="0"/>
              <a:t>     </a:t>
            </a:r>
            <a:r>
              <a:rPr lang="en-IN" sz="1400" dirty="0" err="1"/>
              <a:t>uicontrol</a:t>
            </a:r>
            <a:r>
              <a:rPr lang="en-IN" sz="1400" dirty="0"/>
              <a:t>('Style','pushbutton','String','3. Channel',...</a:t>
            </a:r>
          </a:p>
          <a:p>
            <a:pPr marL="0" indent="0">
              <a:buNone/>
            </a:pPr>
            <a:r>
              <a:rPr lang="en-IN" sz="1400" dirty="0"/>
              <a:t>    '</a:t>
            </a:r>
            <a:r>
              <a:rPr lang="en-IN" sz="1400" dirty="0" err="1"/>
              <a:t>Units','normalized','Position</a:t>
            </a:r>
            <a:r>
              <a:rPr lang="en-IN" sz="1400" dirty="0"/>
              <a:t>',[0.52 0.45 0.17 0.06],...</a:t>
            </a:r>
          </a:p>
          <a:p>
            <a:pPr marL="0" indent="0">
              <a:buNone/>
            </a:pPr>
            <a:r>
              <a:rPr lang="en-IN" sz="1400" dirty="0"/>
              <a:t>    ‘</a:t>
            </a:r>
            <a:r>
              <a:rPr lang="en-IN" sz="1400" dirty="0" err="1"/>
              <a:t>BackgroundColor</a:t>
            </a:r>
            <a:r>
              <a:rPr lang="en-IN" sz="1400" dirty="0"/>
              <a:t>',btn_</a:t>
            </a:r>
            <a:r>
              <a:rPr lang="en-IN" sz="1400" dirty="0" err="1"/>
              <a:t>color</a:t>
            </a:r>
            <a:r>
              <a:rPr lang="en-IN" sz="1400" dirty="0"/>
              <a:t>,'</a:t>
            </a:r>
            <a:r>
              <a:rPr lang="en-IN" sz="1400" dirty="0" err="1"/>
              <a:t>Callback',@channel</a:t>
            </a:r>
            <a:r>
              <a:rPr lang="en-IN" sz="1400" dirty="0"/>
              <a:t>);</a:t>
            </a:r>
          </a:p>
          <a:p>
            <a:pPr marL="0" indent="0">
              <a:buNone/>
            </a:pPr>
            <a:r>
              <a:rPr lang="en-IN" sz="1400" dirty="0"/>
              <a:t>     </a:t>
            </a:r>
            <a:r>
              <a:rPr lang="en-IN" sz="1400" dirty="0" err="1"/>
              <a:t>uicontrol</a:t>
            </a:r>
            <a:r>
              <a:rPr lang="en-IN" sz="1400" dirty="0"/>
              <a:t>('Style','pushbutton','String','4. Receiver',...</a:t>
            </a:r>
          </a:p>
          <a:p>
            <a:pPr marL="0" indent="0">
              <a:buNone/>
            </a:pPr>
            <a:r>
              <a:rPr lang="en-IN" sz="1400" dirty="0"/>
              <a:t>    '</a:t>
            </a:r>
            <a:r>
              <a:rPr lang="en-IN" sz="1400" dirty="0" err="1"/>
              <a:t>Units','normalized','Position</a:t>
            </a:r>
            <a:r>
              <a:rPr lang="en-IN" sz="1400" dirty="0"/>
              <a:t>',[0.76 0.45 0.17 0.06],...</a:t>
            </a:r>
          </a:p>
          <a:p>
            <a:pPr marL="0" indent="0">
              <a:buNone/>
            </a:pPr>
            <a:r>
              <a:rPr lang="en-IN" sz="1400" dirty="0"/>
              <a:t>   </a:t>
            </a:r>
            <a:endParaRPr lang="en-IN" dirty="0"/>
          </a:p>
        </p:txBody>
      </p:sp>
      <p:pic>
        <p:nvPicPr>
          <p:cNvPr id="5" name="Picture 4">
            <a:extLst>
              <a:ext uri="{FF2B5EF4-FFF2-40B4-BE49-F238E27FC236}">
                <a16:creationId xmlns:a16="http://schemas.microsoft.com/office/drawing/2014/main" id="{9C9F7658-250F-975B-BB35-634552AC193C}"/>
              </a:ext>
            </a:extLst>
          </p:cNvPr>
          <p:cNvPicPr>
            <a:picLocks noChangeAspect="1"/>
          </p:cNvPicPr>
          <p:nvPr/>
        </p:nvPicPr>
        <p:blipFill>
          <a:blip r:embed="rId2"/>
          <a:stretch>
            <a:fillRect/>
          </a:stretch>
        </p:blipFill>
        <p:spPr>
          <a:xfrm>
            <a:off x="457200" y="55880"/>
            <a:ext cx="1444877" cy="914479"/>
          </a:xfrm>
          <a:prstGeom prst="rect">
            <a:avLst/>
          </a:prstGeom>
        </p:spPr>
      </p:pic>
    </p:spTree>
    <p:extLst>
      <p:ext uri="{BB962C8B-B14F-4D97-AF65-F5344CB8AC3E}">
        <p14:creationId xmlns:p14="http://schemas.microsoft.com/office/powerpoint/2010/main" val="1077705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F5D28-8CC8-89EA-FB35-F8D88CE90073}"/>
              </a:ext>
            </a:extLst>
          </p:cNvPr>
          <p:cNvSpPr>
            <a:spLocks noGrp="1"/>
          </p:cNvSpPr>
          <p:nvPr>
            <p:ph type="title"/>
          </p:nvPr>
        </p:nvSpPr>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BE2FFFCF-C97E-CAB4-7D20-FE476FD383D8}"/>
              </a:ext>
            </a:extLst>
          </p:cNvPr>
          <p:cNvSpPr>
            <a:spLocks noGrp="1"/>
          </p:cNvSpPr>
          <p:nvPr>
            <p:ph type="body"/>
          </p:nvPr>
        </p:nvSpPr>
        <p:spPr>
          <a:xfrm>
            <a:off x="457200" y="274680"/>
            <a:ext cx="8229240" cy="1142640"/>
          </a:xfrm>
        </p:spPr>
        <p:txBody>
          <a:bodyPr/>
          <a:lstStyle/>
          <a:p>
            <a:pPr marL="0" indent="0">
              <a:buNone/>
            </a:pPr>
            <a:endParaRPr lang="en-IN" sz="1400" dirty="0"/>
          </a:p>
        </p:txBody>
      </p:sp>
      <p:pic>
        <p:nvPicPr>
          <p:cNvPr id="5" name="Picture 4">
            <a:extLst>
              <a:ext uri="{FF2B5EF4-FFF2-40B4-BE49-F238E27FC236}">
                <a16:creationId xmlns:a16="http://schemas.microsoft.com/office/drawing/2014/main" id="{D7E89F19-3699-3DC9-1F58-5D37F07483FF}"/>
              </a:ext>
            </a:extLst>
          </p:cNvPr>
          <p:cNvPicPr>
            <a:picLocks noChangeAspect="1"/>
          </p:cNvPicPr>
          <p:nvPr/>
        </p:nvPicPr>
        <p:blipFill>
          <a:blip r:embed="rId2"/>
          <a:stretch>
            <a:fillRect/>
          </a:stretch>
        </p:blipFill>
        <p:spPr>
          <a:xfrm>
            <a:off x="457200" y="274680"/>
            <a:ext cx="1444877" cy="914479"/>
          </a:xfrm>
          <a:prstGeom prst="rect">
            <a:avLst/>
          </a:prstGeom>
        </p:spPr>
      </p:pic>
      <p:sp>
        <p:nvSpPr>
          <p:cNvPr id="4" name="TextBox 3">
            <a:extLst>
              <a:ext uri="{FF2B5EF4-FFF2-40B4-BE49-F238E27FC236}">
                <a16:creationId xmlns:a16="http://schemas.microsoft.com/office/drawing/2014/main" id="{3D443287-2812-3B68-6627-194F9392AF92}"/>
              </a:ext>
            </a:extLst>
          </p:cNvPr>
          <p:cNvSpPr txBox="1"/>
          <p:nvPr/>
        </p:nvSpPr>
        <p:spPr>
          <a:xfrm>
            <a:off x="457200" y="1828800"/>
            <a:ext cx="8229240" cy="2523768"/>
          </a:xfrm>
          <a:prstGeom prst="rect">
            <a:avLst/>
          </a:prstGeom>
          <a:noFill/>
        </p:spPr>
        <p:txBody>
          <a:bodyPr wrap="square" rtlCol="0">
            <a:spAutoFit/>
          </a:bodyPr>
          <a:lstStyle/>
          <a:p>
            <a:r>
              <a:rPr lang="en-IN" sz="1400" dirty="0"/>
              <a:t>'</a:t>
            </a:r>
            <a:r>
              <a:rPr lang="en-IN" sz="1400" dirty="0" err="1"/>
              <a:t>BackgroundColor</a:t>
            </a:r>
            <a:r>
              <a:rPr lang="en-IN" sz="1400" dirty="0"/>
              <a:t>',btn_</a:t>
            </a:r>
            <a:r>
              <a:rPr lang="en-IN" sz="1400" dirty="0" err="1"/>
              <a:t>color</a:t>
            </a:r>
            <a:r>
              <a:rPr lang="en-IN" sz="1400" dirty="0"/>
              <a:t>,'</a:t>
            </a:r>
            <a:r>
              <a:rPr lang="en-IN" sz="1400" dirty="0" err="1"/>
              <a:t>Callback',@receiver</a:t>
            </a:r>
            <a:r>
              <a:rPr lang="en-IN" sz="1400" dirty="0"/>
              <a:t>);</a:t>
            </a:r>
          </a:p>
          <a:p>
            <a:r>
              <a:rPr lang="en-IN" sz="1400" dirty="0" err="1"/>
              <a:t>uicontrol</a:t>
            </a:r>
            <a:r>
              <a:rPr lang="en-IN" sz="1400" dirty="0"/>
              <a:t>('Style','pushbutton','String','5. Performance',...</a:t>
            </a:r>
          </a:p>
          <a:p>
            <a:r>
              <a:rPr lang="en-IN" sz="1400" dirty="0"/>
              <a:t>    '</a:t>
            </a:r>
            <a:r>
              <a:rPr lang="en-IN" sz="1400" dirty="0" err="1"/>
              <a:t>Units','normalized','Position</a:t>
            </a:r>
            <a:r>
              <a:rPr lang="en-IN" sz="1400" dirty="0"/>
              <a:t>',[0.06 0.25 0.17 0.06],...</a:t>
            </a:r>
          </a:p>
          <a:p>
            <a:r>
              <a:rPr lang="en-IN" sz="1400" dirty="0"/>
              <a:t>    '</a:t>
            </a:r>
            <a:r>
              <a:rPr lang="en-IN" sz="1400" dirty="0" err="1"/>
              <a:t>BackgroundColor</a:t>
            </a:r>
            <a:r>
              <a:rPr lang="en-IN" sz="1400" dirty="0"/>
              <a:t>',btn_</a:t>
            </a:r>
            <a:r>
              <a:rPr lang="en-IN" sz="1400" dirty="0" err="1"/>
              <a:t>color</a:t>
            </a:r>
            <a:r>
              <a:rPr lang="en-IN" sz="1400" dirty="0"/>
              <a:t>,'</a:t>
            </a:r>
            <a:r>
              <a:rPr lang="en-IN" sz="1400" dirty="0" err="1"/>
              <a:t>Callback',@performance</a:t>
            </a:r>
            <a:r>
              <a:rPr lang="en-IN" sz="1400" dirty="0"/>
              <a:t>);</a:t>
            </a:r>
          </a:p>
          <a:p>
            <a:r>
              <a:rPr lang="en-IN" sz="1400" dirty="0"/>
              <a:t>%% ===================STATUS=====================</a:t>
            </a:r>
          </a:p>
          <a:p>
            <a:r>
              <a:rPr lang="en-IN" sz="1400" dirty="0"/>
              <a:t>     </a:t>
            </a:r>
            <a:r>
              <a:rPr lang="en-IN" sz="1400" dirty="0" err="1"/>
              <a:t>handles.status</a:t>
            </a:r>
            <a:r>
              <a:rPr lang="en-IN" sz="1400" dirty="0"/>
              <a:t> = </a:t>
            </a:r>
            <a:r>
              <a:rPr lang="en-IN" sz="1400" dirty="0" err="1"/>
              <a:t>uicontrol</a:t>
            </a:r>
            <a:r>
              <a:rPr lang="en-IN" sz="1400" dirty="0"/>
              <a:t>('</a:t>
            </a:r>
            <a:r>
              <a:rPr lang="en-IN" sz="1400" dirty="0" err="1"/>
              <a:t>Style','text','String','Status</a:t>
            </a:r>
            <a:r>
              <a:rPr lang="en-IN" sz="1400" dirty="0"/>
              <a:t>: Ready',...</a:t>
            </a:r>
          </a:p>
          <a:p>
            <a:r>
              <a:rPr lang="en-IN" sz="1400" dirty="0"/>
              <a:t>    '</a:t>
            </a:r>
            <a:r>
              <a:rPr lang="en-IN" sz="1400" dirty="0" err="1"/>
              <a:t>Units','normalized','Position</a:t>
            </a:r>
            <a:r>
              <a:rPr lang="en-IN" sz="1400" dirty="0"/>
              <a:t>',[0.3 0.02 0.4 0.05],...</a:t>
            </a:r>
          </a:p>
          <a:p>
            <a:r>
              <a:rPr lang="en-IN" sz="1400" dirty="0"/>
              <a:t>    'FontSize',12,'FontWeight','bold','BackgroundColor',[0.25 0.4 0.25 0.46]);</a:t>
            </a:r>
          </a:p>
          <a:p>
            <a:r>
              <a:rPr lang="en-IN" sz="1400" dirty="0"/>
              <a:t>    </a:t>
            </a:r>
            <a:r>
              <a:rPr lang="en-IN" sz="1400" dirty="0" err="1"/>
              <a:t>guidata</a:t>
            </a:r>
            <a:r>
              <a:rPr lang="en-IN" sz="1400" dirty="0"/>
              <a:t>(</a:t>
            </a:r>
            <a:r>
              <a:rPr lang="en-IN" sz="1400" dirty="0" err="1"/>
              <a:t>f,handles</a:t>
            </a:r>
            <a:r>
              <a:rPr lang="en-IN" sz="1400" dirty="0"/>
              <a:t>);</a:t>
            </a:r>
          </a:p>
          <a:p>
            <a:r>
              <a:rPr lang="en-IN" sz="1400" dirty="0"/>
              <a:t>    end</a:t>
            </a:r>
          </a:p>
          <a:p>
            <a:endParaRPr lang="en-IN" dirty="0"/>
          </a:p>
        </p:txBody>
      </p:sp>
    </p:spTree>
    <p:extLst>
      <p:ext uri="{BB962C8B-B14F-4D97-AF65-F5344CB8AC3E}">
        <p14:creationId xmlns:p14="http://schemas.microsoft.com/office/powerpoint/2010/main" val="19194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F149C-5FC9-8C3F-5A54-A62AC207B8E9}"/>
              </a:ext>
            </a:extLst>
          </p:cNvPr>
          <p:cNvSpPr>
            <a:spLocks noGrp="1"/>
          </p:cNvSpPr>
          <p:nvPr>
            <p:ph type="title"/>
          </p:nvPr>
        </p:nvSpPr>
        <p:spPr/>
        <p:txBody>
          <a:bodyPr/>
          <a:lstStyle/>
          <a:p>
            <a:pPr algn="ctr"/>
            <a:r>
              <a:rPr lang="en-US" b="1" dirty="0"/>
              <a:t>CODE</a:t>
            </a:r>
            <a:endParaRPr lang="en-IN" b="1" dirty="0"/>
          </a:p>
        </p:txBody>
      </p:sp>
      <p:pic>
        <p:nvPicPr>
          <p:cNvPr id="4" name="image1.png">
            <a:extLst>
              <a:ext uri="{FF2B5EF4-FFF2-40B4-BE49-F238E27FC236}">
                <a16:creationId xmlns:a16="http://schemas.microsoft.com/office/drawing/2014/main" id="{AA513279-9628-40A9-FA76-4D8109FDFE62}"/>
              </a:ext>
            </a:extLst>
          </p:cNvPr>
          <p:cNvPicPr/>
          <p:nvPr/>
        </p:nvPicPr>
        <p:blipFill>
          <a:blip r:embed="rId2"/>
          <a:stretch>
            <a:fillRect/>
          </a:stretch>
        </p:blipFill>
        <p:spPr>
          <a:xfrm>
            <a:off x="457200" y="274680"/>
            <a:ext cx="1447560" cy="914040"/>
          </a:xfrm>
          <a:prstGeom prst="rect">
            <a:avLst/>
          </a:prstGeom>
          <a:noFill/>
          <a:ln w="0">
            <a:noFill/>
          </a:ln>
        </p:spPr>
      </p:pic>
      <p:sp>
        <p:nvSpPr>
          <p:cNvPr id="5" name="TextBox 4">
            <a:extLst>
              <a:ext uri="{FF2B5EF4-FFF2-40B4-BE49-F238E27FC236}">
                <a16:creationId xmlns:a16="http://schemas.microsoft.com/office/drawing/2014/main" id="{ACB8D729-94DC-8A5C-4583-052479E79935}"/>
              </a:ext>
            </a:extLst>
          </p:cNvPr>
          <p:cNvSpPr txBox="1"/>
          <p:nvPr/>
        </p:nvSpPr>
        <p:spPr>
          <a:xfrm>
            <a:off x="457200" y="1838632"/>
            <a:ext cx="8229240" cy="3385542"/>
          </a:xfrm>
          <a:prstGeom prst="rect">
            <a:avLst/>
          </a:prstGeom>
          <a:noFill/>
        </p:spPr>
        <p:txBody>
          <a:bodyPr wrap="square" rtlCol="0">
            <a:spAutoFit/>
          </a:bodyPr>
          <a:lstStyle/>
          <a:p>
            <a:r>
              <a:rPr lang="en-IN" sz="1400" dirty="0"/>
              <a:t>%% ================= FUNCTIONS =================</a:t>
            </a:r>
          </a:p>
          <a:p>
            <a:r>
              <a:rPr lang="en-IN" sz="1400" dirty="0"/>
              <a:t>function </a:t>
            </a:r>
            <a:r>
              <a:rPr lang="en-IN" sz="1400" dirty="0" err="1"/>
              <a:t>loadImage</a:t>
            </a:r>
            <a:r>
              <a:rPr lang="en-IN" sz="1400" dirty="0"/>
              <a:t>(</a:t>
            </a:r>
            <a:r>
              <a:rPr lang="en-IN" sz="1400" dirty="0" err="1"/>
              <a:t>hObject</a:t>
            </a:r>
            <a:r>
              <a:rPr lang="en-IN" sz="1400" dirty="0"/>
              <a:t>,~)</a:t>
            </a:r>
          </a:p>
          <a:p>
            <a:r>
              <a:rPr lang="en-IN" sz="1400" dirty="0"/>
              <a:t>handles = </a:t>
            </a:r>
            <a:r>
              <a:rPr lang="en-IN" sz="1400" dirty="0" err="1"/>
              <a:t>guidata</a:t>
            </a:r>
            <a:r>
              <a:rPr lang="en-IN" sz="1400" dirty="0"/>
              <a:t>(</a:t>
            </a:r>
            <a:r>
              <a:rPr lang="en-IN" sz="1400" dirty="0" err="1"/>
              <a:t>hObject</a:t>
            </a:r>
            <a:r>
              <a:rPr lang="en-IN" sz="1400" dirty="0"/>
              <a:t>);</a:t>
            </a:r>
          </a:p>
          <a:p>
            <a:r>
              <a:rPr lang="en-IN" sz="1400" dirty="0"/>
              <a:t>[</a:t>
            </a:r>
            <a:r>
              <a:rPr lang="en-IN" sz="1400" dirty="0" err="1"/>
              <a:t>file,path</a:t>
            </a:r>
            <a:r>
              <a:rPr lang="en-IN" sz="1400" dirty="0"/>
              <a:t>] = </a:t>
            </a:r>
            <a:r>
              <a:rPr lang="en-IN" sz="1400" dirty="0" err="1"/>
              <a:t>uigetfile</a:t>
            </a:r>
            <a:r>
              <a:rPr lang="en-IN" sz="1400" dirty="0"/>
              <a:t>({'*.jpg;*.</a:t>
            </a:r>
            <a:r>
              <a:rPr lang="en-IN" sz="1400" dirty="0" err="1"/>
              <a:t>png</a:t>
            </a:r>
            <a:r>
              <a:rPr lang="en-IN" sz="1400" dirty="0"/>
              <a:t>;*.</a:t>
            </a:r>
            <a:r>
              <a:rPr lang="en-IN" sz="1400" dirty="0" err="1"/>
              <a:t>tif</a:t>
            </a:r>
            <a:r>
              <a:rPr lang="en-IN" sz="1400" dirty="0"/>
              <a:t>'});</a:t>
            </a:r>
          </a:p>
          <a:p>
            <a:r>
              <a:rPr lang="en-IN" sz="1400" dirty="0" err="1"/>
              <a:t>img</a:t>
            </a:r>
            <a:r>
              <a:rPr lang="en-IN" sz="1400" dirty="0"/>
              <a:t> = </a:t>
            </a:r>
            <a:r>
              <a:rPr lang="en-IN" sz="1400" dirty="0" err="1"/>
              <a:t>imread</a:t>
            </a:r>
            <a:r>
              <a:rPr lang="en-IN" sz="1400" dirty="0"/>
              <a:t>(</a:t>
            </a:r>
            <a:r>
              <a:rPr lang="en-IN" sz="1400" dirty="0" err="1"/>
              <a:t>fullfile</a:t>
            </a:r>
            <a:r>
              <a:rPr lang="en-IN" sz="1400" dirty="0"/>
              <a:t>(</a:t>
            </a:r>
            <a:r>
              <a:rPr lang="en-IN" sz="1400" dirty="0" err="1"/>
              <a:t>path,file</a:t>
            </a:r>
            <a:r>
              <a:rPr lang="en-IN" sz="1400" dirty="0"/>
              <a:t>));</a:t>
            </a:r>
          </a:p>
          <a:p>
            <a:r>
              <a:rPr lang="en-IN" sz="1400" dirty="0"/>
              <a:t>if size(img,3)==3</a:t>
            </a:r>
          </a:p>
          <a:p>
            <a:r>
              <a:rPr lang="en-IN" sz="1400" dirty="0"/>
              <a:t>    </a:t>
            </a:r>
            <a:r>
              <a:rPr lang="en-IN" sz="1400" dirty="0" err="1"/>
              <a:t>img</a:t>
            </a:r>
            <a:r>
              <a:rPr lang="en-IN" sz="1400" dirty="0"/>
              <a:t> = rgb2gray(</a:t>
            </a:r>
            <a:r>
              <a:rPr lang="en-IN" sz="1400" dirty="0" err="1"/>
              <a:t>img</a:t>
            </a:r>
            <a:r>
              <a:rPr lang="en-IN" sz="1400" dirty="0"/>
              <a:t>);</a:t>
            </a:r>
          </a:p>
          <a:p>
            <a:r>
              <a:rPr lang="en-IN" sz="1400" dirty="0"/>
              <a:t>end</a:t>
            </a:r>
          </a:p>
          <a:p>
            <a:r>
              <a:rPr lang="en-IN" sz="1400" dirty="0" err="1"/>
              <a:t>img</a:t>
            </a:r>
            <a:r>
              <a:rPr lang="en-IN" sz="1400" dirty="0"/>
              <a:t> = </a:t>
            </a:r>
            <a:r>
              <a:rPr lang="en-IN" sz="1400" dirty="0" err="1"/>
              <a:t>imresize</a:t>
            </a:r>
            <a:r>
              <a:rPr lang="en-IN" sz="1400" dirty="0"/>
              <a:t>(</a:t>
            </a:r>
            <a:r>
              <a:rPr lang="en-IN" sz="1400" dirty="0" err="1"/>
              <a:t>img</a:t>
            </a:r>
            <a:r>
              <a:rPr lang="en-IN" sz="1400" dirty="0"/>
              <a:t>,[128 128]);</a:t>
            </a:r>
          </a:p>
          <a:p>
            <a:r>
              <a:rPr lang="en-IN" sz="1400" dirty="0"/>
              <a:t>axes(handles.ax1); </a:t>
            </a:r>
            <a:r>
              <a:rPr lang="en-IN" sz="1400" dirty="0" err="1"/>
              <a:t>imshow</a:t>
            </a:r>
            <a:r>
              <a:rPr lang="en-IN" sz="1400" dirty="0"/>
              <a:t>(</a:t>
            </a:r>
            <a:r>
              <a:rPr lang="en-IN" sz="1400" dirty="0" err="1"/>
              <a:t>img</a:t>
            </a:r>
            <a:r>
              <a:rPr lang="en-IN" sz="1400" dirty="0"/>
              <a:t>);</a:t>
            </a:r>
          </a:p>
          <a:p>
            <a:r>
              <a:rPr lang="en-IN" sz="1400" dirty="0" err="1"/>
              <a:t>handles.img</a:t>
            </a:r>
            <a:r>
              <a:rPr lang="en-IN" sz="1400" dirty="0"/>
              <a:t> = </a:t>
            </a:r>
            <a:r>
              <a:rPr lang="en-IN" sz="1400" dirty="0" err="1"/>
              <a:t>img</a:t>
            </a:r>
            <a:r>
              <a:rPr lang="en-IN" sz="1400" dirty="0"/>
              <a:t>;</a:t>
            </a:r>
          </a:p>
          <a:p>
            <a:r>
              <a:rPr lang="en-IN" sz="1400" dirty="0" err="1"/>
              <a:t>handles.status.String</a:t>
            </a:r>
            <a:r>
              <a:rPr lang="en-IN" sz="1400" dirty="0"/>
              <a:t> = 'Image Loaded';</a:t>
            </a:r>
          </a:p>
          <a:p>
            <a:r>
              <a:rPr lang="en-IN" sz="1400" dirty="0" err="1"/>
              <a:t>guidata</a:t>
            </a:r>
            <a:r>
              <a:rPr lang="en-IN" sz="1400" dirty="0"/>
              <a:t>(</a:t>
            </a:r>
            <a:r>
              <a:rPr lang="en-IN" sz="1400" dirty="0" err="1"/>
              <a:t>hObject,handles</a:t>
            </a:r>
            <a:r>
              <a:rPr lang="en-IN" sz="1400" dirty="0"/>
              <a:t>);</a:t>
            </a:r>
          </a:p>
          <a:p>
            <a:r>
              <a:rPr lang="en-IN" sz="1400" dirty="0"/>
              <a:t>end</a:t>
            </a:r>
          </a:p>
          <a:p>
            <a:endParaRPr lang="en-IN" dirty="0"/>
          </a:p>
        </p:txBody>
      </p:sp>
    </p:spTree>
    <p:extLst>
      <p:ext uri="{BB962C8B-B14F-4D97-AF65-F5344CB8AC3E}">
        <p14:creationId xmlns:p14="http://schemas.microsoft.com/office/powerpoint/2010/main" val="3315039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6D2A-C8C6-DEF4-A685-9CD99C78518E}"/>
              </a:ext>
            </a:extLst>
          </p:cNvPr>
          <p:cNvSpPr>
            <a:spLocks noGrp="1"/>
          </p:cNvSpPr>
          <p:nvPr>
            <p:ph type="title"/>
          </p:nvPr>
        </p:nvSpPr>
        <p:spPr/>
        <p:txBody>
          <a:bodyPr/>
          <a:lstStyle/>
          <a:p>
            <a:pPr algn="ctr"/>
            <a:r>
              <a:rPr lang="en-US" b="1" dirty="0"/>
              <a:t>CODE</a:t>
            </a:r>
            <a:endParaRPr lang="en-IN" b="1" dirty="0"/>
          </a:p>
        </p:txBody>
      </p:sp>
      <p:pic>
        <p:nvPicPr>
          <p:cNvPr id="4" name="image1.png">
            <a:extLst>
              <a:ext uri="{FF2B5EF4-FFF2-40B4-BE49-F238E27FC236}">
                <a16:creationId xmlns:a16="http://schemas.microsoft.com/office/drawing/2014/main" id="{D2D70041-EE57-A9FA-6CF8-841393E88E2E}"/>
              </a:ext>
            </a:extLst>
          </p:cNvPr>
          <p:cNvPicPr/>
          <p:nvPr/>
        </p:nvPicPr>
        <p:blipFill>
          <a:blip r:embed="rId2"/>
          <a:stretch>
            <a:fillRect/>
          </a:stretch>
        </p:blipFill>
        <p:spPr>
          <a:xfrm>
            <a:off x="521855" y="388980"/>
            <a:ext cx="1447560" cy="914040"/>
          </a:xfrm>
          <a:prstGeom prst="rect">
            <a:avLst/>
          </a:prstGeom>
          <a:noFill/>
          <a:ln w="0">
            <a:noFill/>
          </a:ln>
        </p:spPr>
      </p:pic>
      <p:sp>
        <p:nvSpPr>
          <p:cNvPr id="5" name="TextBox 4">
            <a:extLst>
              <a:ext uri="{FF2B5EF4-FFF2-40B4-BE49-F238E27FC236}">
                <a16:creationId xmlns:a16="http://schemas.microsoft.com/office/drawing/2014/main" id="{BB221B6F-CC89-9725-2548-D35E74AD53CA}"/>
              </a:ext>
            </a:extLst>
          </p:cNvPr>
          <p:cNvSpPr txBox="1"/>
          <p:nvPr/>
        </p:nvSpPr>
        <p:spPr>
          <a:xfrm>
            <a:off x="457200" y="1838632"/>
            <a:ext cx="8229240" cy="3600986"/>
          </a:xfrm>
          <a:prstGeom prst="rect">
            <a:avLst/>
          </a:prstGeom>
          <a:noFill/>
        </p:spPr>
        <p:txBody>
          <a:bodyPr wrap="square" rtlCol="0">
            <a:spAutoFit/>
          </a:bodyPr>
          <a:lstStyle/>
          <a:p>
            <a:r>
              <a:rPr lang="en-IN" sz="1400" dirty="0"/>
              <a:t>%% ===============TRANSMITTER====================</a:t>
            </a:r>
          </a:p>
          <a:p>
            <a:r>
              <a:rPr lang="en-IN" sz="1400" dirty="0"/>
              <a:t>function transmitter(</a:t>
            </a:r>
            <a:r>
              <a:rPr lang="en-IN" sz="1400" dirty="0" err="1"/>
              <a:t>hObject</a:t>
            </a:r>
            <a:r>
              <a:rPr lang="en-IN" sz="1400" dirty="0"/>
              <a:t>,~)</a:t>
            </a:r>
          </a:p>
          <a:p>
            <a:r>
              <a:rPr lang="en-IN" sz="1400" dirty="0"/>
              <a:t>handles = </a:t>
            </a:r>
            <a:r>
              <a:rPr lang="en-IN" sz="1400" dirty="0" err="1"/>
              <a:t>guidata</a:t>
            </a:r>
            <a:r>
              <a:rPr lang="en-IN" sz="1400" dirty="0"/>
              <a:t>(</a:t>
            </a:r>
            <a:r>
              <a:rPr lang="en-IN" sz="1400" dirty="0" err="1"/>
              <a:t>hObject</a:t>
            </a:r>
            <a:r>
              <a:rPr lang="en-IN" sz="1400" dirty="0"/>
              <a:t>);</a:t>
            </a:r>
          </a:p>
          <a:p>
            <a:r>
              <a:rPr lang="en-IN" sz="1400" dirty="0" err="1"/>
              <a:t>img</a:t>
            </a:r>
            <a:r>
              <a:rPr lang="en-IN" sz="1400" dirty="0"/>
              <a:t> = </a:t>
            </a:r>
            <a:r>
              <a:rPr lang="en-IN" sz="1400" dirty="0" err="1"/>
              <a:t>handles.img</a:t>
            </a:r>
            <a:r>
              <a:rPr lang="en-IN" sz="1400" dirty="0"/>
              <a:t>;</a:t>
            </a:r>
          </a:p>
          <a:p>
            <a:r>
              <a:rPr lang="en-IN" sz="1400" dirty="0" err="1"/>
              <a:t>img_data</a:t>
            </a:r>
            <a:r>
              <a:rPr lang="en-IN" sz="1400" dirty="0"/>
              <a:t> = double(</a:t>
            </a:r>
            <a:r>
              <a:rPr lang="en-IN" sz="1400" dirty="0" err="1"/>
              <a:t>img</a:t>
            </a:r>
            <a:r>
              <a:rPr lang="en-IN" sz="1400" dirty="0"/>
              <a:t>(:));</a:t>
            </a:r>
          </a:p>
          <a:p>
            <a:r>
              <a:rPr lang="en-IN" sz="1400" dirty="0" err="1"/>
              <a:t>bin_data</a:t>
            </a:r>
            <a:r>
              <a:rPr lang="en-IN" sz="1400" dirty="0"/>
              <a:t> = de2bi(img_data,8,'left-msb');</a:t>
            </a:r>
          </a:p>
          <a:p>
            <a:r>
              <a:rPr lang="en-IN" sz="1400" dirty="0" err="1"/>
              <a:t>tx_bits</a:t>
            </a:r>
            <a:r>
              <a:rPr lang="en-IN" sz="1400" dirty="0"/>
              <a:t> = </a:t>
            </a:r>
            <a:r>
              <a:rPr lang="en-IN" sz="1400" dirty="0" err="1"/>
              <a:t>bin_data</a:t>
            </a:r>
            <a:r>
              <a:rPr lang="en-IN" sz="1400" dirty="0"/>
              <a:t>(:);</a:t>
            </a:r>
          </a:p>
          <a:p>
            <a:r>
              <a:rPr lang="en-IN" sz="1400" dirty="0"/>
              <a:t>symbols = bi2de(reshape(</a:t>
            </a:r>
            <a:r>
              <a:rPr lang="en-IN" sz="1400" dirty="0" err="1"/>
              <a:t>tx_bits</a:t>
            </a:r>
            <a:r>
              <a:rPr lang="en-IN" sz="1400" dirty="0"/>
              <a:t>,[],2));</a:t>
            </a:r>
          </a:p>
          <a:p>
            <a:r>
              <a:rPr lang="en-IN" sz="1400" dirty="0" err="1"/>
              <a:t>mod_data</a:t>
            </a:r>
            <a:r>
              <a:rPr lang="en-IN" sz="1400" dirty="0"/>
              <a:t> = </a:t>
            </a:r>
            <a:r>
              <a:rPr lang="en-IN" sz="1400" dirty="0" err="1"/>
              <a:t>pskmod</a:t>
            </a:r>
            <a:r>
              <a:rPr lang="en-IN" sz="1400" dirty="0"/>
              <a:t>(symbols,4,pi/4);</a:t>
            </a:r>
          </a:p>
          <a:p>
            <a:r>
              <a:rPr lang="en-IN" sz="1400" dirty="0" err="1"/>
              <a:t>block_size</a:t>
            </a:r>
            <a:r>
              <a:rPr lang="en-IN" sz="1400" dirty="0"/>
              <a:t> = 64;</a:t>
            </a:r>
          </a:p>
          <a:p>
            <a:r>
              <a:rPr lang="en-IN" sz="1400" dirty="0" err="1"/>
              <a:t>num_blocks</a:t>
            </a:r>
            <a:r>
              <a:rPr lang="en-IN" sz="1400" dirty="0"/>
              <a:t> = ceil(length(</a:t>
            </a:r>
            <a:r>
              <a:rPr lang="en-IN" sz="1400" dirty="0" err="1"/>
              <a:t>mod_data</a:t>
            </a:r>
            <a:r>
              <a:rPr lang="en-IN" sz="1400" dirty="0"/>
              <a:t>)/</a:t>
            </a:r>
            <a:r>
              <a:rPr lang="en-IN" sz="1400" dirty="0" err="1"/>
              <a:t>block_size</a:t>
            </a:r>
            <a:r>
              <a:rPr lang="en-IN" sz="1400" dirty="0"/>
              <a:t>);</a:t>
            </a:r>
          </a:p>
          <a:p>
            <a:r>
              <a:rPr lang="en-IN" sz="1400" dirty="0" err="1"/>
              <a:t>pad_len</a:t>
            </a:r>
            <a:r>
              <a:rPr lang="en-IN" sz="1400" dirty="0"/>
              <a:t> = </a:t>
            </a:r>
            <a:r>
              <a:rPr lang="en-IN" sz="1400" dirty="0" err="1"/>
              <a:t>num_blocks</a:t>
            </a:r>
            <a:r>
              <a:rPr lang="en-IN" sz="1400" dirty="0"/>
              <a:t>*</a:t>
            </a:r>
            <a:r>
              <a:rPr lang="en-IN" sz="1400" dirty="0" err="1"/>
              <a:t>block_size</a:t>
            </a:r>
            <a:r>
              <a:rPr lang="en-IN" sz="1400" dirty="0"/>
              <a:t> - length(</a:t>
            </a:r>
            <a:r>
              <a:rPr lang="en-IN" sz="1400" dirty="0" err="1"/>
              <a:t>mod_data</a:t>
            </a:r>
            <a:r>
              <a:rPr lang="en-IN" sz="1400" dirty="0"/>
              <a:t>);</a:t>
            </a:r>
          </a:p>
          <a:p>
            <a:r>
              <a:rPr lang="en-IN" sz="1400" dirty="0" err="1"/>
              <a:t>mod_data</a:t>
            </a:r>
            <a:r>
              <a:rPr lang="en-IN" sz="1400" dirty="0"/>
              <a:t> = [</a:t>
            </a:r>
            <a:r>
              <a:rPr lang="en-IN" sz="1400" dirty="0" err="1"/>
              <a:t>mod_data</a:t>
            </a:r>
            <a:r>
              <a:rPr lang="en-IN" sz="1400" dirty="0"/>
              <a:t>; zeros(pad_len,1)];</a:t>
            </a:r>
          </a:p>
          <a:p>
            <a:r>
              <a:rPr lang="en-IN" sz="1400" dirty="0" err="1"/>
              <a:t>mod_blocks</a:t>
            </a:r>
            <a:r>
              <a:rPr lang="en-IN" sz="1400" dirty="0"/>
              <a:t> = reshape(</a:t>
            </a:r>
            <a:r>
              <a:rPr lang="en-IN" sz="1400" dirty="0" err="1"/>
              <a:t>mod_data,block_size</a:t>
            </a:r>
            <a:r>
              <a:rPr lang="en-IN" sz="1400" dirty="0"/>
              <a:t>,[]);</a:t>
            </a:r>
          </a:p>
          <a:p>
            <a:r>
              <a:rPr lang="en-IN" sz="1400" dirty="0" err="1"/>
              <a:t>dwt_tx</a:t>
            </a:r>
            <a:r>
              <a:rPr lang="en-IN" sz="1400" dirty="0"/>
              <a:t> = [];</a:t>
            </a:r>
          </a:p>
          <a:p>
            <a:endParaRPr lang="en-IN" dirty="0"/>
          </a:p>
        </p:txBody>
      </p:sp>
    </p:spTree>
    <p:extLst>
      <p:ext uri="{BB962C8B-B14F-4D97-AF65-F5344CB8AC3E}">
        <p14:creationId xmlns:p14="http://schemas.microsoft.com/office/powerpoint/2010/main" val="19314232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A1EB-D2C6-F168-CC98-AC179667776C}"/>
              </a:ext>
            </a:extLst>
          </p:cNvPr>
          <p:cNvSpPr>
            <a:spLocks noGrp="1"/>
          </p:cNvSpPr>
          <p:nvPr>
            <p:ph type="title"/>
          </p:nvPr>
        </p:nvSpPr>
        <p:spPr/>
        <p:txBody>
          <a:bodyPr/>
          <a:lstStyle/>
          <a:p>
            <a:pPr algn="ctr"/>
            <a:r>
              <a:rPr lang="en-US" b="1" dirty="0"/>
              <a:t>CODE</a:t>
            </a:r>
            <a:endParaRPr lang="en-IN" b="1" dirty="0"/>
          </a:p>
        </p:txBody>
      </p:sp>
      <p:pic>
        <p:nvPicPr>
          <p:cNvPr id="4" name="image1.png">
            <a:extLst>
              <a:ext uri="{FF2B5EF4-FFF2-40B4-BE49-F238E27FC236}">
                <a16:creationId xmlns:a16="http://schemas.microsoft.com/office/drawing/2014/main" id="{58C9DE22-57DA-C839-139F-42A609F88402}"/>
              </a:ext>
            </a:extLst>
          </p:cNvPr>
          <p:cNvPicPr/>
          <p:nvPr/>
        </p:nvPicPr>
        <p:blipFill>
          <a:blip r:embed="rId2"/>
          <a:stretch>
            <a:fillRect/>
          </a:stretch>
        </p:blipFill>
        <p:spPr>
          <a:xfrm>
            <a:off x="521855" y="388980"/>
            <a:ext cx="1447560" cy="914040"/>
          </a:xfrm>
          <a:prstGeom prst="rect">
            <a:avLst/>
          </a:prstGeom>
          <a:noFill/>
          <a:ln w="0">
            <a:noFill/>
          </a:ln>
        </p:spPr>
      </p:pic>
      <p:sp>
        <p:nvSpPr>
          <p:cNvPr id="5" name="TextBox 4">
            <a:extLst>
              <a:ext uri="{FF2B5EF4-FFF2-40B4-BE49-F238E27FC236}">
                <a16:creationId xmlns:a16="http://schemas.microsoft.com/office/drawing/2014/main" id="{06D2B21C-361B-FC03-F378-ADC38A8D2336}"/>
              </a:ext>
            </a:extLst>
          </p:cNvPr>
          <p:cNvSpPr txBox="1"/>
          <p:nvPr/>
        </p:nvSpPr>
        <p:spPr>
          <a:xfrm>
            <a:off x="457200" y="1917290"/>
            <a:ext cx="8229240" cy="2954655"/>
          </a:xfrm>
          <a:prstGeom prst="rect">
            <a:avLst/>
          </a:prstGeom>
          <a:noFill/>
        </p:spPr>
        <p:txBody>
          <a:bodyPr wrap="square" rtlCol="0">
            <a:spAutoFit/>
          </a:bodyPr>
          <a:lstStyle/>
          <a:p>
            <a:r>
              <a:rPr lang="en-IN" sz="1400" dirty="0"/>
              <a:t>for k=1:size(mod_blocks,2)</a:t>
            </a:r>
          </a:p>
          <a:p>
            <a:r>
              <a:rPr lang="en-IN" sz="1400" dirty="0"/>
              <a:t>    [</a:t>
            </a:r>
            <a:r>
              <a:rPr lang="en-IN" sz="1400" dirty="0" err="1"/>
              <a:t>cA,cD</a:t>
            </a:r>
            <a:r>
              <a:rPr lang="en-IN" sz="1400" dirty="0"/>
              <a:t>] = dwt(real(</a:t>
            </a:r>
            <a:r>
              <a:rPr lang="en-IN" sz="1400" dirty="0" err="1"/>
              <a:t>mod_blocks</a:t>
            </a:r>
            <a:r>
              <a:rPr lang="en-IN" sz="1400" dirty="0"/>
              <a:t>(:,k)),'</a:t>
            </a:r>
            <a:r>
              <a:rPr lang="en-IN" sz="1400" dirty="0" err="1"/>
              <a:t>haar</a:t>
            </a:r>
            <a:r>
              <a:rPr lang="en-IN" sz="1400" dirty="0"/>
              <a:t>');</a:t>
            </a:r>
          </a:p>
          <a:p>
            <a:r>
              <a:rPr lang="en-IN" sz="1400" dirty="0"/>
              <a:t>    </a:t>
            </a:r>
            <a:r>
              <a:rPr lang="en-IN" sz="1400" dirty="0" err="1"/>
              <a:t>dwt_tx</a:t>
            </a:r>
            <a:r>
              <a:rPr lang="en-IN" sz="1400" dirty="0"/>
              <a:t> = [</a:t>
            </a:r>
            <a:r>
              <a:rPr lang="en-IN" sz="1400" dirty="0" err="1"/>
              <a:t>dwt_tx</a:t>
            </a:r>
            <a:r>
              <a:rPr lang="en-IN" sz="1400" dirty="0"/>
              <a:t>; </a:t>
            </a:r>
            <a:r>
              <a:rPr lang="en-IN" sz="1400" dirty="0" err="1"/>
              <a:t>cA</a:t>
            </a:r>
            <a:r>
              <a:rPr lang="en-IN" sz="1400" dirty="0"/>
              <a:t>; </a:t>
            </a:r>
            <a:r>
              <a:rPr lang="en-IN" sz="1400" dirty="0" err="1"/>
              <a:t>cD</a:t>
            </a:r>
            <a:r>
              <a:rPr lang="en-IN" sz="1400" dirty="0"/>
              <a:t>];</a:t>
            </a:r>
          </a:p>
          <a:p>
            <a:r>
              <a:rPr lang="en-IN" sz="1400" dirty="0"/>
              <a:t>end</a:t>
            </a:r>
          </a:p>
          <a:p>
            <a:r>
              <a:rPr lang="en-IN" sz="1400" dirty="0"/>
              <a:t>axes(handles.ax2);</a:t>
            </a:r>
          </a:p>
          <a:p>
            <a:r>
              <a:rPr lang="en-IN" sz="1400" dirty="0"/>
              <a:t>plot(</a:t>
            </a:r>
            <a:r>
              <a:rPr lang="en-IN" sz="1400" dirty="0" err="1"/>
              <a:t>dwt_tx</a:t>
            </a:r>
            <a:r>
              <a:rPr lang="en-IN" sz="1400" dirty="0"/>
              <a:t>(1:200)); % show part of signal</a:t>
            </a:r>
          </a:p>
          <a:p>
            <a:r>
              <a:rPr lang="en-IN" sz="1400" dirty="0"/>
              <a:t>title('Transmitter Output');</a:t>
            </a:r>
          </a:p>
          <a:p>
            <a:r>
              <a:rPr lang="en-IN" sz="1400" dirty="0" err="1"/>
              <a:t>handles.tx_bits</a:t>
            </a:r>
            <a:r>
              <a:rPr lang="en-IN" sz="1400" dirty="0"/>
              <a:t> = </a:t>
            </a:r>
            <a:r>
              <a:rPr lang="en-IN" sz="1400" dirty="0" err="1"/>
              <a:t>tx_bits</a:t>
            </a:r>
            <a:r>
              <a:rPr lang="en-IN" sz="1400" dirty="0"/>
              <a:t>;</a:t>
            </a:r>
          </a:p>
          <a:p>
            <a:r>
              <a:rPr lang="en-IN" sz="1400" dirty="0" err="1"/>
              <a:t>handles.dwt_tx</a:t>
            </a:r>
            <a:r>
              <a:rPr lang="en-IN" sz="1400" dirty="0"/>
              <a:t> = </a:t>
            </a:r>
            <a:r>
              <a:rPr lang="en-IN" sz="1400" dirty="0" err="1"/>
              <a:t>dwt_tx</a:t>
            </a:r>
            <a:r>
              <a:rPr lang="en-IN" sz="1400" dirty="0"/>
              <a:t>;</a:t>
            </a:r>
          </a:p>
          <a:p>
            <a:r>
              <a:rPr lang="en-IN" sz="1400" dirty="0" err="1"/>
              <a:t>handles.status.String</a:t>
            </a:r>
            <a:r>
              <a:rPr lang="en-IN" sz="1400" dirty="0"/>
              <a:t> = 'Transmitter Done';</a:t>
            </a:r>
          </a:p>
          <a:p>
            <a:r>
              <a:rPr lang="en-IN" sz="1400" dirty="0" err="1"/>
              <a:t>guidata</a:t>
            </a:r>
            <a:r>
              <a:rPr lang="en-IN" sz="1400" dirty="0"/>
              <a:t>(</a:t>
            </a:r>
            <a:r>
              <a:rPr lang="en-IN" sz="1400" dirty="0" err="1"/>
              <a:t>hObject,handles</a:t>
            </a:r>
            <a:r>
              <a:rPr lang="en-IN" sz="1400" dirty="0"/>
              <a:t>);</a:t>
            </a:r>
          </a:p>
          <a:p>
            <a:r>
              <a:rPr lang="en-IN" sz="1400" dirty="0"/>
              <a:t>end</a:t>
            </a:r>
          </a:p>
          <a:p>
            <a:endParaRPr lang="en-IN" dirty="0"/>
          </a:p>
        </p:txBody>
      </p:sp>
    </p:spTree>
    <p:extLst>
      <p:ext uri="{BB962C8B-B14F-4D97-AF65-F5344CB8AC3E}">
        <p14:creationId xmlns:p14="http://schemas.microsoft.com/office/powerpoint/2010/main" val="521670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CC1D2-006B-EE51-5B8C-AC1B2BC9797A}"/>
              </a:ext>
            </a:extLst>
          </p:cNvPr>
          <p:cNvSpPr>
            <a:spLocks noGrp="1"/>
          </p:cNvSpPr>
          <p:nvPr>
            <p:ph type="title"/>
          </p:nvPr>
        </p:nvSpPr>
        <p:spPr>
          <a:xfrm>
            <a:off x="457200" y="158934"/>
            <a:ext cx="8229240" cy="859638"/>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F38A47ED-AAB7-6566-3EF3-F4021E5BE039}"/>
              </a:ext>
            </a:extLst>
          </p:cNvPr>
          <p:cNvSpPr>
            <a:spLocks noGrp="1"/>
          </p:cNvSpPr>
          <p:nvPr>
            <p:ph type="body"/>
          </p:nvPr>
        </p:nvSpPr>
        <p:spPr>
          <a:xfrm>
            <a:off x="457200" y="1417320"/>
            <a:ext cx="8229240" cy="4525560"/>
          </a:xfrm>
        </p:spPr>
        <p:txBody>
          <a:bodyPr/>
          <a:lstStyle/>
          <a:p>
            <a:pPr marL="0" indent="0">
              <a:buNone/>
            </a:pPr>
            <a:r>
              <a:rPr lang="en-IN" sz="1400" dirty="0"/>
              <a:t>=============CHANNEL====================</a:t>
            </a:r>
          </a:p>
          <a:p>
            <a:pPr marL="0" indent="0">
              <a:buNone/>
            </a:pPr>
            <a:r>
              <a:rPr lang="en-IN" sz="1400" dirty="0"/>
              <a:t>function channel(</a:t>
            </a:r>
            <a:r>
              <a:rPr lang="en-IN" sz="1400" dirty="0" err="1"/>
              <a:t>hObject</a:t>
            </a:r>
            <a:r>
              <a:rPr lang="en-IN" sz="1400" dirty="0"/>
              <a:t>,~)</a:t>
            </a:r>
          </a:p>
          <a:p>
            <a:pPr marL="0" indent="0">
              <a:buNone/>
            </a:pPr>
            <a:r>
              <a:rPr lang="en-IN" sz="1400" dirty="0"/>
              <a:t>handles = </a:t>
            </a:r>
            <a:r>
              <a:rPr lang="en-IN" sz="1400" dirty="0" err="1"/>
              <a:t>guidata</a:t>
            </a:r>
            <a:r>
              <a:rPr lang="en-IN" sz="1400" dirty="0"/>
              <a:t>(</a:t>
            </a:r>
            <a:r>
              <a:rPr lang="en-IN" sz="1400" dirty="0" err="1"/>
              <a:t>hObject</a:t>
            </a:r>
            <a:r>
              <a:rPr lang="en-IN" sz="1400" dirty="0"/>
              <a:t>);</a:t>
            </a:r>
          </a:p>
          <a:p>
            <a:pPr marL="0" indent="0">
              <a:buNone/>
            </a:pPr>
            <a:r>
              <a:rPr lang="en-IN" sz="1400" dirty="0" err="1"/>
              <a:t>dwt_tx</a:t>
            </a:r>
            <a:r>
              <a:rPr lang="en-IN" sz="1400" dirty="0"/>
              <a:t> = </a:t>
            </a:r>
            <a:r>
              <a:rPr lang="en-IN" sz="1400" dirty="0" err="1"/>
              <a:t>handles.dwt_tx</a:t>
            </a:r>
            <a:r>
              <a:rPr lang="en-IN" sz="1400" dirty="0"/>
              <a:t>;</a:t>
            </a:r>
          </a:p>
          <a:p>
            <a:pPr marL="0" indent="0">
              <a:buNone/>
            </a:pPr>
            <a:r>
              <a:rPr lang="en-IN" sz="1400" dirty="0"/>
              <a:t>snr = 20;</a:t>
            </a:r>
          </a:p>
          <a:p>
            <a:pPr marL="0" indent="0">
              <a:buNone/>
            </a:pPr>
            <a:r>
              <a:rPr lang="en-IN" sz="1400" dirty="0" err="1"/>
              <a:t>rx_signal</a:t>
            </a:r>
            <a:r>
              <a:rPr lang="en-IN" sz="1400" dirty="0"/>
              <a:t> = </a:t>
            </a:r>
            <a:r>
              <a:rPr lang="en-IN" sz="1400" dirty="0" err="1"/>
              <a:t>awgn</a:t>
            </a:r>
            <a:r>
              <a:rPr lang="en-IN" sz="1400" dirty="0"/>
              <a:t>(</a:t>
            </a:r>
            <a:r>
              <a:rPr lang="en-IN" sz="1400" dirty="0" err="1"/>
              <a:t>dwt_tx,snr,'measured</a:t>
            </a:r>
            <a:r>
              <a:rPr lang="en-IN" sz="1400" dirty="0"/>
              <a:t>')</a:t>
            </a:r>
          </a:p>
          <a:p>
            <a:pPr marL="0" indent="0">
              <a:buNone/>
            </a:pPr>
            <a:r>
              <a:rPr lang="en-IN" sz="1400" dirty="0"/>
              <a:t>axes(handles.ax3);</a:t>
            </a:r>
          </a:p>
          <a:p>
            <a:pPr marL="0" indent="0">
              <a:buNone/>
            </a:pPr>
            <a:r>
              <a:rPr lang="en-IN" sz="1400" dirty="0"/>
              <a:t>plot(</a:t>
            </a:r>
            <a:r>
              <a:rPr lang="en-IN" sz="1400" dirty="0" err="1"/>
              <a:t>rx_signal</a:t>
            </a:r>
            <a:r>
              <a:rPr lang="en-IN" sz="1400" dirty="0"/>
              <a:t>(1:200));</a:t>
            </a:r>
          </a:p>
          <a:p>
            <a:pPr marL="0" indent="0">
              <a:buNone/>
            </a:pPr>
            <a:r>
              <a:rPr lang="en-IN" sz="1400" dirty="0"/>
              <a:t>title('Channel Output');</a:t>
            </a:r>
          </a:p>
          <a:p>
            <a:pPr marL="0" indent="0">
              <a:buNone/>
            </a:pPr>
            <a:r>
              <a:rPr lang="en-IN" sz="1400" dirty="0" err="1"/>
              <a:t>dwt_tx</a:t>
            </a:r>
            <a:r>
              <a:rPr lang="en-IN" sz="1400" dirty="0"/>
              <a:t>(abs(</a:t>
            </a:r>
            <a:r>
              <a:rPr lang="en-IN" sz="1400" dirty="0" err="1"/>
              <a:t>dwt_tx</a:t>
            </a:r>
            <a:r>
              <a:rPr lang="en-IN" sz="1400" dirty="0"/>
              <a:t>)&lt;1e-6)=1e-6;</a:t>
            </a:r>
          </a:p>
          <a:p>
            <a:pPr marL="0" indent="0">
              <a:buNone/>
            </a:pPr>
            <a:r>
              <a:rPr lang="en-IN" sz="1400" dirty="0" err="1"/>
              <a:t>H_est</a:t>
            </a:r>
            <a:r>
              <a:rPr lang="en-IN" sz="1400" dirty="0"/>
              <a:t> = mean(</a:t>
            </a:r>
            <a:r>
              <a:rPr lang="en-IN" sz="1400" dirty="0" err="1"/>
              <a:t>rx_signal</a:t>
            </a:r>
            <a:r>
              <a:rPr lang="en-IN" sz="1400" dirty="0"/>
              <a:t> ./ </a:t>
            </a:r>
            <a:r>
              <a:rPr lang="en-IN" sz="1400" dirty="0" err="1"/>
              <a:t>dwt_tx</a:t>
            </a:r>
            <a:r>
              <a:rPr lang="en-IN" sz="1400" dirty="0"/>
              <a:t>);</a:t>
            </a:r>
          </a:p>
          <a:p>
            <a:pPr marL="0" indent="0">
              <a:buNone/>
            </a:pPr>
            <a:r>
              <a:rPr lang="en-IN" sz="1400" dirty="0" err="1"/>
              <a:t>eq_signal</a:t>
            </a:r>
            <a:r>
              <a:rPr lang="en-IN" sz="1400" dirty="0"/>
              <a:t> = </a:t>
            </a:r>
            <a:r>
              <a:rPr lang="en-IN" sz="1400" dirty="0" err="1"/>
              <a:t>rx_signal</a:t>
            </a:r>
            <a:r>
              <a:rPr lang="en-IN" sz="1400" dirty="0"/>
              <a:t> ./ </a:t>
            </a:r>
            <a:r>
              <a:rPr lang="en-IN" sz="1400" dirty="0" err="1"/>
              <a:t>H_est</a:t>
            </a:r>
            <a:r>
              <a:rPr lang="en-IN" sz="1400" dirty="0"/>
              <a:t>;</a:t>
            </a:r>
          </a:p>
          <a:p>
            <a:pPr marL="0" indent="0">
              <a:buNone/>
            </a:pPr>
            <a:r>
              <a:rPr lang="en-IN" sz="1400" dirty="0" err="1"/>
              <a:t>eq_signal</a:t>
            </a:r>
            <a:r>
              <a:rPr lang="en-IN" sz="1400" dirty="0"/>
              <a:t>(~</a:t>
            </a:r>
            <a:r>
              <a:rPr lang="en-IN" sz="1400" dirty="0" err="1"/>
              <a:t>isfinite</a:t>
            </a:r>
            <a:r>
              <a:rPr lang="en-IN" sz="1400" dirty="0"/>
              <a:t>(</a:t>
            </a:r>
            <a:r>
              <a:rPr lang="en-IN" sz="1400" dirty="0" err="1"/>
              <a:t>eq_signal</a:t>
            </a:r>
            <a:r>
              <a:rPr lang="en-IN" sz="1400" dirty="0"/>
              <a:t>))=0;</a:t>
            </a:r>
          </a:p>
          <a:p>
            <a:pPr marL="0" indent="0">
              <a:buNone/>
            </a:pPr>
            <a:r>
              <a:rPr lang="en-IN" sz="1400" dirty="0" err="1"/>
              <a:t>handles.eq_signal</a:t>
            </a:r>
            <a:r>
              <a:rPr lang="en-IN" sz="1400" dirty="0"/>
              <a:t> = </a:t>
            </a:r>
            <a:r>
              <a:rPr lang="en-IN" sz="1400" dirty="0" err="1"/>
              <a:t>eq_signal</a:t>
            </a:r>
            <a:r>
              <a:rPr lang="en-IN" sz="1400" dirty="0"/>
              <a:t>;</a:t>
            </a:r>
          </a:p>
          <a:p>
            <a:pPr marL="0" indent="0">
              <a:buNone/>
            </a:pPr>
            <a:r>
              <a:rPr lang="en-IN" sz="1400" dirty="0" err="1"/>
              <a:t>handles.status.String</a:t>
            </a:r>
            <a:r>
              <a:rPr lang="en-IN" sz="1400" dirty="0"/>
              <a:t> = 'Channel Done';</a:t>
            </a:r>
          </a:p>
          <a:p>
            <a:pPr marL="0" indent="0">
              <a:buNone/>
            </a:pPr>
            <a:r>
              <a:rPr lang="en-IN" sz="1400" dirty="0" err="1"/>
              <a:t>guidata</a:t>
            </a:r>
            <a:r>
              <a:rPr lang="en-IN" sz="1400" dirty="0"/>
              <a:t>(</a:t>
            </a:r>
            <a:r>
              <a:rPr lang="en-IN" sz="1400" dirty="0" err="1"/>
              <a:t>hObject,handles</a:t>
            </a:r>
            <a:r>
              <a:rPr lang="en-IN" sz="1400" dirty="0"/>
              <a:t>);</a:t>
            </a:r>
          </a:p>
          <a:p>
            <a:pPr marL="0" indent="0">
              <a:buNone/>
            </a:pPr>
            <a:r>
              <a:rPr lang="en-IN" sz="1400" dirty="0"/>
              <a:t>end</a:t>
            </a:r>
          </a:p>
          <a:p>
            <a:pPr marL="0" indent="0">
              <a:buNone/>
            </a:pPr>
            <a:endParaRPr lang="en-IN" dirty="0"/>
          </a:p>
        </p:txBody>
      </p:sp>
      <p:pic>
        <p:nvPicPr>
          <p:cNvPr id="4" name="image1.png">
            <a:extLst>
              <a:ext uri="{FF2B5EF4-FFF2-40B4-BE49-F238E27FC236}">
                <a16:creationId xmlns:a16="http://schemas.microsoft.com/office/drawing/2014/main" id="{95BBE200-C033-A62B-B25D-C783AA989B2B}"/>
              </a:ext>
            </a:extLst>
          </p:cNvPr>
          <p:cNvPicPr/>
          <p:nvPr/>
        </p:nvPicPr>
        <p:blipFill>
          <a:blip r:embed="rId2"/>
          <a:stretch>
            <a:fillRect/>
          </a:stretch>
        </p:blipFill>
        <p:spPr>
          <a:xfrm>
            <a:off x="521855" y="388980"/>
            <a:ext cx="1447560" cy="914040"/>
          </a:xfrm>
          <a:prstGeom prst="rect">
            <a:avLst/>
          </a:prstGeom>
          <a:noFill/>
          <a:ln w="0">
            <a:noFill/>
          </a:ln>
        </p:spPr>
      </p:pic>
    </p:spTree>
    <p:extLst>
      <p:ext uri="{BB962C8B-B14F-4D97-AF65-F5344CB8AC3E}">
        <p14:creationId xmlns:p14="http://schemas.microsoft.com/office/powerpoint/2010/main" val="3549956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3744B-ECC9-A775-D43B-195B8D9DD470}"/>
              </a:ext>
            </a:extLst>
          </p:cNvPr>
          <p:cNvSpPr>
            <a:spLocks noGrp="1"/>
          </p:cNvSpPr>
          <p:nvPr>
            <p:ph type="title"/>
          </p:nvPr>
        </p:nvSpPr>
        <p:spPr>
          <a:xfrm>
            <a:off x="457200" y="77910"/>
            <a:ext cx="8229240" cy="1091133"/>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80BC27EE-317A-AC34-2ABB-6ADF438E3DB9}"/>
              </a:ext>
            </a:extLst>
          </p:cNvPr>
          <p:cNvSpPr>
            <a:spLocks noGrp="1"/>
          </p:cNvSpPr>
          <p:nvPr>
            <p:ph type="body"/>
          </p:nvPr>
        </p:nvSpPr>
        <p:spPr>
          <a:xfrm>
            <a:off x="457200" y="1417320"/>
            <a:ext cx="8229240" cy="4525560"/>
          </a:xfrm>
        </p:spPr>
        <p:txBody>
          <a:bodyPr/>
          <a:lstStyle/>
          <a:p>
            <a:pPr marL="0" indent="0">
              <a:buNone/>
            </a:pPr>
            <a:r>
              <a:rPr lang="en-IN" sz="1400" dirty="0"/>
              <a:t>====================RECEIVER==============</a:t>
            </a:r>
          </a:p>
          <a:p>
            <a:pPr marL="0" indent="0">
              <a:buNone/>
            </a:pPr>
            <a:r>
              <a:rPr lang="en-IN" sz="1400" dirty="0"/>
              <a:t>function receiver(</a:t>
            </a:r>
            <a:r>
              <a:rPr lang="en-IN" sz="1400" dirty="0" err="1"/>
              <a:t>hObject</a:t>
            </a:r>
            <a:r>
              <a:rPr lang="en-IN" sz="1400" dirty="0"/>
              <a:t>,~)</a:t>
            </a:r>
          </a:p>
          <a:p>
            <a:pPr marL="0" indent="0">
              <a:buNone/>
            </a:pPr>
            <a:r>
              <a:rPr lang="en-IN" sz="1400" dirty="0"/>
              <a:t>handles = </a:t>
            </a:r>
            <a:r>
              <a:rPr lang="en-IN" sz="1400" dirty="0" err="1"/>
              <a:t>guidata</a:t>
            </a:r>
            <a:r>
              <a:rPr lang="en-IN" sz="1400" dirty="0"/>
              <a:t>(</a:t>
            </a:r>
            <a:r>
              <a:rPr lang="en-IN" sz="1400" dirty="0" err="1"/>
              <a:t>hObject</a:t>
            </a:r>
            <a:r>
              <a:rPr lang="en-IN" sz="1400" dirty="0"/>
              <a:t>);</a:t>
            </a:r>
          </a:p>
          <a:p>
            <a:pPr marL="0" indent="0">
              <a:buNone/>
            </a:pPr>
            <a:r>
              <a:rPr lang="en-IN" sz="1400" dirty="0" err="1"/>
              <a:t>eq_signal</a:t>
            </a:r>
            <a:r>
              <a:rPr lang="en-IN" sz="1400" dirty="0"/>
              <a:t> = </a:t>
            </a:r>
            <a:r>
              <a:rPr lang="en-IN" sz="1400" dirty="0" err="1"/>
              <a:t>handles.eq_signal</a:t>
            </a:r>
            <a:r>
              <a:rPr lang="en-IN" sz="1400" dirty="0"/>
              <a:t>;</a:t>
            </a:r>
          </a:p>
          <a:p>
            <a:pPr marL="0" indent="0">
              <a:buNone/>
            </a:pPr>
            <a:r>
              <a:rPr lang="en-IN" sz="1400" dirty="0" err="1"/>
              <a:t>tx_bits</a:t>
            </a:r>
            <a:r>
              <a:rPr lang="en-IN" sz="1400" dirty="0"/>
              <a:t> = </a:t>
            </a:r>
            <a:r>
              <a:rPr lang="en-IN" sz="1400" dirty="0" err="1"/>
              <a:t>handles.tx_bits</a:t>
            </a:r>
            <a:r>
              <a:rPr lang="en-IN" sz="1400" dirty="0"/>
              <a:t>;</a:t>
            </a:r>
          </a:p>
          <a:p>
            <a:pPr marL="0" indent="0">
              <a:buNone/>
            </a:pPr>
            <a:r>
              <a:rPr lang="en-IN" sz="1400" dirty="0" err="1"/>
              <a:t>img</a:t>
            </a:r>
            <a:r>
              <a:rPr lang="en-IN" sz="1400" dirty="0"/>
              <a:t> = </a:t>
            </a:r>
            <a:r>
              <a:rPr lang="en-IN" sz="1400" dirty="0" err="1"/>
              <a:t>handles.img</a:t>
            </a:r>
            <a:r>
              <a:rPr lang="en-IN" sz="1400" dirty="0"/>
              <a:t>;</a:t>
            </a:r>
          </a:p>
          <a:p>
            <a:pPr marL="0" indent="0">
              <a:buNone/>
            </a:pPr>
            <a:r>
              <a:rPr lang="en-IN" sz="1400" dirty="0" err="1"/>
              <a:t>block_size</a:t>
            </a:r>
            <a:r>
              <a:rPr lang="en-IN" sz="1400" dirty="0"/>
              <a:t> = 64;</a:t>
            </a:r>
          </a:p>
          <a:p>
            <a:pPr marL="0" indent="0">
              <a:buNone/>
            </a:pPr>
            <a:r>
              <a:rPr lang="en-IN" sz="1400" dirty="0" err="1"/>
              <a:t>rec_blocks</a:t>
            </a:r>
            <a:r>
              <a:rPr lang="en-IN" sz="1400" dirty="0"/>
              <a:t> = [];</a:t>
            </a:r>
          </a:p>
          <a:p>
            <a:pPr marL="0" indent="0">
              <a:buNone/>
            </a:pPr>
            <a:r>
              <a:rPr lang="en-IN" sz="1400" dirty="0" err="1"/>
              <a:t>idx</a:t>
            </a:r>
            <a:r>
              <a:rPr lang="en-IN" sz="1400" dirty="0"/>
              <a:t> = 1;</a:t>
            </a:r>
          </a:p>
          <a:p>
            <a:pPr marL="0" indent="0">
              <a:buNone/>
            </a:pPr>
            <a:r>
              <a:rPr lang="en-IN" sz="1400" dirty="0" err="1"/>
              <a:t>num_blocks</a:t>
            </a:r>
            <a:r>
              <a:rPr lang="en-IN" sz="1400" dirty="0"/>
              <a:t> = length(</a:t>
            </a:r>
            <a:r>
              <a:rPr lang="en-IN" sz="1400" dirty="0" err="1"/>
              <a:t>eq_signal</a:t>
            </a:r>
            <a:r>
              <a:rPr lang="en-IN" sz="1400" dirty="0"/>
              <a:t>)/</a:t>
            </a:r>
            <a:r>
              <a:rPr lang="en-IN" sz="1400" dirty="0" err="1"/>
              <a:t>block_size</a:t>
            </a:r>
            <a:r>
              <a:rPr lang="en-IN" sz="1400" dirty="0"/>
              <a:t>;</a:t>
            </a:r>
          </a:p>
          <a:p>
            <a:pPr marL="0" indent="0">
              <a:buNone/>
            </a:pPr>
            <a:r>
              <a:rPr lang="en-IN" sz="1400" dirty="0"/>
              <a:t>for k=1:num_blocks</a:t>
            </a:r>
          </a:p>
          <a:p>
            <a:pPr marL="0" indent="0">
              <a:buNone/>
            </a:pPr>
            <a:r>
              <a:rPr lang="en-IN" sz="1400" dirty="0"/>
              <a:t>    </a:t>
            </a:r>
            <a:r>
              <a:rPr lang="en-IN" sz="1400" dirty="0" err="1"/>
              <a:t>cA</a:t>
            </a:r>
            <a:r>
              <a:rPr lang="en-IN" sz="1400" dirty="0"/>
              <a:t> = </a:t>
            </a:r>
            <a:r>
              <a:rPr lang="en-IN" sz="1400" dirty="0" err="1"/>
              <a:t>eq_signal</a:t>
            </a:r>
            <a:r>
              <a:rPr lang="en-IN" sz="1400" dirty="0"/>
              <a:t>(</a:t>
            </a:r>
            <a:r>
              <a:rPr lang="en-IN" sz="1400" dirty="0" err="1"/>
              <a:t>idx:idx</a:t>
            </a:r>
            <a:r>
              <a:rPr lang="en-IN" sz="1400" dirty="0"/>
              <a:t>+(</a:t>
            </a:r>
            <a:r>
              <a:rPr lang="en-IN" sz="1400" dirty="0" err="1"/>
              <a:t>block_size</a:t>
            </a:r>
            <a:r>
              <a:rPr lang="en-IN" sz="1400" dirty="0"/>
              <a:t>/2-1));</a:t>
            </a:r>
          </a:p>
          <a:p>
            <a:pPr marL="0" indent="0">
              <a:buNone/>
            </a:pPr>
            <a:r>
              <a:rPr lang="en-IN" sz="1400" dirty="0"/>
              <a:t>    </a:t>
            </a:r>
            <a:r>
              <a:rPr lang="en-IN" sz="1400" dirty="0" err="1"/>
              <a:t>cD</a:t>
            </a:r>
            <a:r>
              <a:rPr lang="en-IN" sz="1400" dirty="0"/>
              <a:t> = </a:t>
            </a:r>
            <a:r>
              <a:rPr lang="en-IN" sz="1400" dirty="0" err="1"/>
              <a:t>eq_signal</a:t>
            </a:r>
            <a:r>
              <a:rPr lang="en-IN" sz="1400" dirty="0"/>
              <a:t>(</a:t>
            </a:r>
            <a:r>
              <a:rPr lang="en-IN" sz="1400" dirty="0" err="1"/>
              <a:t>idx</a:t>
            </a:r>
            <a:r>
              <a:rPr lang="en-IN" sz="1400" dirty="0"/>
              <a:t>+(</a:t>
            </a:r>
            <a:r>
              <a:rPr lang="en-IN" sz="1400" dirty="0" err="1"/>
              <a:t>block_size</a:t>
            </a:r>
            <a:r>
              <a:rPr lang="en-IN" sz="1400" dirty="0"/>
              <a:t>/2):idx+block_size-1);</a:t>
            </a:r>
          </a:p>
          <a:p>
            <a:pPr marL="0" indent="0">
              <a:buNone/>
            </a:pPr>
            <a:r>
              <a:rPr lang="en-IN" sz="1400" dirty="0"/>
              <a:t>    </a:t>
            </a:r>
            <a:r>
              <a:rPr lang="en-IN" sz="1400" dirty="0" err="1"/>
              <a:t>idx</a:t>
            </a:r>
            <a:r>
              <a:rPr lang="en-IN" sz="1400" dirty="0"/>
              <a:t> = </a:t>
            </a:r>
            <a:r>
              <a:rPr lang="en-IN" sz="1400" dirty="0" err="1"/>
              <a:t>idx</a:t>
            </a:r>
            <a:r>
              <a:rPr lang="en-IN" sz="1400" dirty="0"/>
              <a:t> + </a:t>
            </a:r>
            <a:r>
              <a:rPr lang="en-IN" sz="1400" dirty="0" err="1"/>
              <a:t>block_size</a:t>
            </a:r>
            <a:r>
              <a:rPr lang="en-IN" sz="1400" dirty="0"/>
              <a:t>;</a:t>
            </a:r>
          </a:p>
          <a:p>
            <a:pPr marL="0" indent="0">
              <a:buNone/>
            </a:pPr>
            <a:r>
              <a:rPr lang="en-IN" sz="1400" dirty="0"/>
              <a:t>    </a:t>
            </a:r>
            <a:r>
              <a:rPr lang="en-IN" sz="1400" dirty="0" err="1"/>
              <a:t>cA</a:t>
            </a:r>
            <a:r>
              <a:rPr lang="en-IN" sz="1400" dirty="0"/>
              <a:t>(~</a:t>
            </a:r>
            <a:r>
              <a:rPr lang="en-IN" sz="1400" dirty="0" err="1"/>
              <a:t>isfinite</a:t>
            </a:r>
            <a:r>
              <a:rPr lang="en-IN" sz="1400" dirty="0"/>
              <a:t>(</a:t>
            </a:r>
            <a:r>
              <a:rPr lang="en-IN" sz="1400" dirty="0" err="1"/>
              <a:t>cA</a:t>
            </a:r>
            <a:r>
              <a:rPr lang="en-IN" sz="1400" dirty="0"/>
              <a:t>))=0;</a:t>
            </a:r>
          </a:p>
          <a:p>
            <a:pPr marL="0" indent="0">
              <a:buNone/>
            </a:pPr>
            <a:r>
              <a:rPr lang="en-IN" sz="1400" dirty="0"/>
              <a:t>    </a:t>
            </a:r>
            <a:r>
              <a:rPr lang="en-IN" sz="1400" dirty="0" err="1"/>
              <a:t>cD</a:t>
            </a:r>
            <a:r>
              <a:rPr lang="en-IN" sz="1400" dirty="0"/>
              <a:t>(~</a:t>
            </a:r>
            <a:r>
              <a:rPr lang="en-IN" sz="1400" dirty="0" err="1"/>
              <a:t>isfinite</a:t>
            </a:r>
            <a:r>
              <a:rPr lang="en-IN" sz="1400" dirty="0"/>
              <a:t>(</a:t>
            </a:r>
            <a:r>
              <a:rPr lang="en-IN" sz="1400" dirty="0" err="1"/>
              <a:t>cD</a:t>
            </a:r>
            <a:r>
              <a:rPr lang="en-IN" sz="1400" dirty="0"/>
              <a:t>))=0;</a:t>
            </a:r>
          </a:p>
          <a:p>
            <a:pPr marL="0" indent="0">
              <a:buNone/>
            </a:pPr>
            <a:endParaRPr lang="en-IN" dirty="0"/>
          </a:p>
        </p:txBody>
      </p:sp>
      <p:pic>
        <p:nvPicPr>
          <p:cNvPr id="4" name="image1.png">
            <a:extLst>
              <a:ext uri="{FF2B5EF4-FFF2-40B4-BE49-F238E27FC236}">
                <a16:creationId xmlns:a16="http://schemas.microsoft.com/office/drawing/2014/main" id="{E28E05B0-5AC4-1CE6-79EF-75FA9B021C4E}"/>
              </a:ext>
            </a:extLst>
          </p:cNvPr>
          <p:cNvPicPr/>
          <p:nvPr/>
        </p:nvPicPr>
        <p:blipFill>
          <a:blip r:embed="rId2"/>
          <a:stretch>
            <a:fillRect/>
          </a:stretch>
        </p:blipFill>
        <p:spPr>
          <a:xfrm>
            <a:off x="521855" y="388980"/>
            <a:ext cx="1447560" cy="914040"/>
          </a:xfrm>
          <a:prstGeom prst="rect">
            <a:avLst/>
          </a:prstGeom>
          <a:noFill/>
          <a:ln w="0">
            <a:noFill/>
          </a:ln>
        </p:spPr>
      </p:pic>
    </p:spTree>
    <p:extLst>
      <p:ext uri="{BB962C8B-B14F-4D97-AF65-F5344CB8AC3E}">
        <p14:creationId xmlns:p14="http://schemas.microsoft.com/office/powerpoint/2010/main" val="3600247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DA9C-C075-C788-7B1D-8D57086FFC21}"/>
              </a:ext>
            </a:extLst>
          </p:cNvPr>
          <p:cNvSpPr>
            <a:spLocks noGrp="1"/>
          </p:cNvSpPr>
          <p:nvPr>
            <p:ph type="title"/>
          </p:nvPr>
        </p:nvSpPr>
        <p:spPr>
          <a:xfrm>
            <a:off x="457200" y="243840"/>
            <a:ext cx="8229240" cy="898800"/>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599EF46A-D4A1-EB9F-0865-A818E2CCE594}"/>
              </a:ext>
            </a:extLst>
          </p:cNvPr>
          <p:cNvSpPr>
            <a:spLocks noGrp="1"/>
          </p:cNvSpPr>
          <p:nvPr>
            <p:ph type="body"/>
          </p:nvPr>
        </p:nvSpPr>
        <p:spPr>
          <a:xfrm>
            <a:off x="457200" y="1391920"/>
            <a:ext cx="8229240" cy="4733840"/>
          </a:xfrm>
        </p:spPr>
        <p:txBody>
          <a:bodyPr/>
          <a:lstStyle/>
          <a:p>
            <a:pPr marL="0" indent="0">
              <a:buNone/>
            </a:pPr>
            <a:r>
              <a:rPr lang="en-IN" dirty="0"/>
              <a:t> </a:t>
            </a:r>
            <a:r>
              <a:rPr lang="en-IN" sz="1400" dirty="0" err="1"/>
              <a:t>rec_block</a:t>
            </a:r>
            <a:r>
              <a:rPr lang="en-IN" sz="1400" dirty="0"/>
              <a:t> = </a:t>
            </a:r>
            <a:r>
              <a:rPr lang="en-IN" sz="1400" dirty="0" err="1"/>
              <a:t>idwt</a:t>
            </a:r>
            <a:r>
              <a:rPr lang="en-IN" sz="1400" dirty="0"/>
              <a:t>(cA,</a:t>
            </a:r>
            <a:r>
              <a:rPr lang="en-IN" sz="1400" dirty="0" err="1"/>
              <a:t>cD</a:t>
            </a:r>
            <a:r>
              <a:rPr lang="en-IN" sz="1400" dirty="0"/>
              <a:t>,'</a:t>
            </a:r>
            <a:r>
              <a:rPr lang="en-IN" sz="1400" dirty="0" err="1"/>
              <a:t>haar</a:t>
            </a:r>
            <a:r>
              <a:rPr lang="en-IN" sz="1400" dirty="0"/>
              <a:t>');</a:t>
            </a:r>
          </a:p>
          <a:p>
            <a:pPr marL="0" indent="0">
              <a:buNone/>
            </a:pPr>
            <a:r>
              <a:rPr lang="en-IN" sz="1400" dirty="0"/>
              <a:t>   </a:t>
            </a:r>
            <a:r>
              <a:rPr lang="en-IN" sz="1400" dirty="0" err="1"/>
              <a:t>rec_blocks</a:t>
            </a:r>
            <a:r>
              <a:rPr lang="en-IN" sz="1400" dirty="0"/>
              <a:t> = [</a:t>
            </a:r>
            <a:r>
              <a:rPr lang="en-IN" sz="1400" dirty="0" err="1"/>
              <a:t>rec_blocks</a:t>
            </a:r>
            <a:r>
              <a:rPr lang="en-IN" sz="1400" dirty="0"/>
              <a:t>; </a:t>
            </a:r>
            <a:r>
              <a:rPr lang="en-IN" sz="1400" dirty="0" err="1"/>
              <a:t>rec_block</a:t>
            </a:r>
            <a:r>
              <a:rPr lang="en-IN" sz="1400" dirty="0"/>
              <a:t>];</a:t>
            </a:r>
          </a:p>
          <a:p>
            <a:pPr marL="0" indent="0">
              <a:buNone/>
            </a:pPr>
            <a:r>
              <a:rPr lang="en-IN" sz="1400" dirty="0"/>
              <a:t>end</a:t>
            </a:r>
          </a:p>
          <a:p>
            <a:pPr marL="0" indent="0">
              <a:buNone/>
            </a:pPr>
            <a:r>
              <a:rPr lang="en-IN" sz="1400" dirty="0" err="1"/>
              <a:t>rec_signal</a:t>
            </a:r>
            <a:r>
              <a:rPr lang="en-IN" sz="1400" dirty="0"/>
              <a:t> = </a:t>
            </a:r>
            <a:r>
              <a:rPr lang="en-IN" sz="1400" dirty="0" err="1"/>
              <a:t>rec_blocks</a:t>
            </a:r>
            <a:r>
              <a:rPr lang="en-IN" sz="1400" dirty="0"/>
              <a:t>(:);</a:t>
            </a:r>
          </a:p>
          <a:p>
            <a:pPr marL="0" indent="0">
              <a:buNone/>
            </a:pPr>
            <a:r>
              <a:rPr lang="en-IN" sz="1400" dirty="0" err="1"/>
              <a:t>demod</a:t>
            </a:r>
            <a:r>
              <a:rPr lang="en-IN" sz="1400" dirty="0"/>
              <a:t> = </a:t>
            </a:r>
            <a:r>
              <a:rPr lang="en-IN" sz="1400" dirty="0" err="1"/>
              <a:t>pskdemod</a:t>
            </a:r>
            <a:r>
              <a:rPr lang="en-IN" sz="1400" dirty="0"/>
              <a:t>(rec_signal,4,pi/4);</a:t>
            </a:r>
          </a:p>
          <a:p>
            <a:pPr marL="0" indent="0">
              <a:buNone/>
            </a:pPr>
            <a:r>
              <a:rPr lang="en-IN" sz="1400" dirty="0" err="1"/>
              <a:t>rx_bits</a:t>
            </a:r>
            <a:r>
              <a:rPr lang="en-IN" sz="1400" dirty="0"/>
              <a:t> = de2bi(demod,2);</a:t>
            </a:r>
          </a:p>
          <a:p>
            <a:pPr marL="0" indent="0">
              <a:buNone/>
            </a:pPr>
            <a:r>
              <a:rPr lang="en-IN" sz="1400" dirty="0" err="1"/>
              <a:t>rx_bits</a:t>
            </a:r>
            <a:r>
              <a:rPr lang="en-IN" sz="1400" dirty="0"/>
              <a:t> = </a:t>
            </a:r>
            <a:r>
              <a:rPr lang="en-IN" sz="1400" dirty="0" err="1"/>
              <a:t>rx_bits</a:t>
            </a:r>
            <a:r>
              <a:rPr lang="en-IN" sz="1400" dirty="0"/>
              <a:t>(:);</a:t>
            </a:r>
          </a:p>
          <a:p>
            <a:pPr marL="0" indent="0">
              <a:buNone/>
            </a:pPr>
            <a:r>
              <a:rPr lang="en-IN" sz="1400" dirty="0" err="1"/>
              <a:t>rx_bits</a:t>
            </a:r>
            <a:r>
              <a:rPr lang="en-IN" sz="1400" dirty="0"/>
              <a:t> = </a:t>
            </a:r>
            <a:r>
              <a:rPr lang="en-IN" sz="1400" dirty="0" err="1"/>
              <a:t>rx_bits</a:t>
            </a:r>
            <a:r>
              <a:rPr lang="en-IN" sz="1400" dirty="0"/>
              <a:t>(1:length(</a:t>
            </a:r>
            <a:r>
              <a:rPr lang="en-IN" sz="1400" dirty="0" err="1"/>
              <a:t>tx_bits</a:t>
            </a:r>
            <a:r>
              <a:rPr lang="en-IN" sz="1400" dirty="0"/>
              <a:t>));</a:t>
            </a:r>
          </a:p>
          <a:p>
            <a:pPr marL="0" indent="0">
              <a:buNone/>
            </a:pPr>
            <a:r>
              <a:rPr lang="en-IN" sz="1400" dirty="0" err="1"/>
              <a:t>rx_pixels</a:t>
            </a:r>
            <a:r>
              <a:rPr lang="en-IN" sz="1400" dirty="0"/>
              <a:t> = bi2de(reshape(rx_bits,8,[]).','left-</a:t>
            </a:r>
            <a:r>
              <a:rPr lang="en-IN" sz="1400" dirty="0" err="1"/>
              <a:t>msb</a:t>
            </a:r>
            <a:r>
              <a:rPr lang="en-IN" sz="1400" dirty="0"/>
              <a:t>');</a:t>
            </a:r>
          </a:p>
          <a:p>
            <a:pPr marL="0" indent="0">
              <a:buNone/>
            </a:pPr>
            <a:r>
              <a:rPr lang="en-IN" sz="1400" dirty="0" err="1"/>
              <a:t>rx_img</a:t>
            </a:r>
            <a:r>
              <a:rPr lang="en-IN" sz="1400" dirty="0"/>
              <a:t> = reshape(uint8(</a:t>
            </a:r>
            <a:r>
              <a:rPr lang="en-IN" sz="1400" dirty="0" err="1"/>
              <a:t>rx_pixels</a:t>
            </a:r>
            <a:r>
              <a:rPr lang="en-IN" sz="1400" dirty="0"/>
              <a:t>),size(</a:t>
            </a:r>
            <a:r>
              <a:rPr lang="en-IN" sz="1400" dirty="0" err="1"/>
              <a:t>img</a:t>
            </a:r>
            <a:r>
              <a:rPr lang="en-IN" sz="1400" dirty="0"/>
              <a:t>));</a:t>
            </a:r>
          </a:p>
          <a:p>
            <a:pPr marL="0" indent="0">
              <a:buNone/>
            </a:pPr>
            <a:r>
              <a:rPr lang="en-IN" sz="1400" dirty="0"/>
              <a:t>axes(handles.ax4);</a:t>
            </a:r>
          </a:p>
          <a:p>
            <a:pPr marL="0" indent="0">
              <a:buNone/>
            </a:pPr>
            <a:r>
              <a:rPr lang="en-IN" sz="1400" dirty="0" err="1"/>
              <a:t>imshow</a:t>
            </a:r>
            <a:r>
              <a:rPr lang="en-IN" sz="1400" dirty="0"/>
              <a:t>(</a:t>
            </a:r>
            <a:r>
              <a:rPr lang="en-IN" sz="1400" dirty="0" err="1"/>
              <a:t>rx_img</a:t>
            </a:r>
            <a:r>
              <a:rPr lang="en-IN" sz="1400" dirty="0"/>
              <a:t>);</a:t>
            </a:r>
          </a:p>
          <a:p>
            <a:pPr marL="0" indent="0">
              <a:buNone/>
            </a:pPr>
            <a:r>
              <a:rPr lang="en-IN" sz="1400" dirty="0" err="1"/>
              <a:t>handles.rx_img</a:t>
            </a:r>
            <a:r>
              <a:rPr lang="en-IN" sz="1400" dirty="0"/>
              <a:t> = </a:t>
            </a:r>
            <a:r>
              <a:rPr lang="en-IN" sz="1400" dirty="0" err="1"/>
              <a:t>rx_img</a:t>
            </a:r>
            <a:r>
              <a:rPr lang="en-IN" sz="1400" dirty="0"/>
              <a:t>;</a:t>
            </a:r>
          </a:p>
          <a:p>
            <a:pPr marL="0" indent="0">
              <a:buNone/>
            </a:pPr>
            <a:r>
              <a:rPr lang="en-IN" sz="1400" dirty="0" err="1"/>
              <a:t>handles.status.String</a:t>
            </a:r>
            <a:r>
              <a:rPr lang="en-IN" sz="1400" dirty="0"/>
              <a:t> = 'Receiver Done';</a:t>
            </a:r>
          </a:p>
          <a:p>
            <a:pPr marL="0" indent="0">
              <a:buNone/>
            </a:pPr>
            <a:r>
              <a:rPr lang="en-IN" sz="1400" dirty="0" err="1"/>
              <a:t>guidata</a:t>
            </a:r>
            <a:r>
              <a:rPr lang="en-IN" sz="1400" dirty="0"/>
              <a:t>(</a:t>
            </a:r>
            <a:r>
              <a:rPr lang="en-IN" sz="1400" dirty="0" err="1"/>
              <a:t>hObject,handles</a:t>
            </a:r>
            <a:r>
              <a:rPr lang="en-IN" sz="1400" dirty="0"/>
              <a:t>);</a:t>
            </a:r>
          </a:p>
          <a:p>
            <a:pPr marL="0" indent="0">
              <a:buNone/>
            </a:pPr>
            <a:r>
              <a:rPr lang="en-IN" sz="1400" dirty="0"/>
              <a:t>end</a:t>
            </a:r>
          </a:p>
        </p:txBody>
      </p:sp>
      <p:pic>
        <p:nvPicPr>
          <p:cNvPr id="4" name="image1.png">
            <a:extLst>
              <a:ext uri="{FF2B5EF4-FFF2-40B4-BE49-F238E27FC236}">
                <a16:creationId xmlns:a16="http://schemas.microsoft.com/office/drawing/2014/main" id="{969A3F8A-3407-4010-FB11-EEB8C119439D}"/>
              </a:ext>
            </a:extLst>
          </p:cNvPr>
          <p:cNvPicPr/>
          <p:nvPr/>
        </p:nvPicPr>
        <p:blipFill>
          <a:blip r:embed="rId2"/>
          <a:stretch>
            <a:fillRect/>
          </a:stretch>
        </p:blipFill>
        <p:spPr>
          <a:xfrm>
            <a:off x="521855" y="388980"/>
            <a:ext cx="1447560" cy="914040"/>
          </a:xfrm>
          <a:prstGeom prst="rect">
            <a:avLst/>
          </a:prstGeom>
          <a:noFill/>
          <a:ln w="0">
            <a:noFill/>
          </a:ln>
        </p:spPr>
      </p:pic>
    </p:spTree>
    <p:extLst>
      <p:ext uri="{BB962C8B-B14F-4D97-AF65-F5344CB8AC3E}">
        <p14:creationId xmlns:p14="http://schemas.microsoft.com/office/powerpoint/2010/main" val="3060366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1661-1CF6-C7CC-DEAD-D3F459BC1FCC}"/>
              </a:ext>
            </a:extLst>
          </p:cNvPr>
          <p:cNvSpPr>
            <a:spLocks noGrp="1"/>
          </p:cNvSpPr>
          <p:nvPr>
            <p:ph type="title"/>
          </p:nvPr>
        </p:nvSpPr>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9BE54835-12AA-1B14-3E96-BD8287A22B60}"/>
              </a:ext>
            </a:extLst>
          </p:cNvPr>
          <p:cNvSpPr>
            <a:spLocks noGrp="1"/>
          </p:cNvSpPr>
          <p:nvPr>
            <p:ph type="body"/>
          </p:nvPr>
        </p:nvSpPr>
        <p:spPr/>
        <p:txBody>
          <a:bodyPr/>
          <a:lstStyle/>
          <a:p>
            <a:pPr marL="0" indent="0">
              <a:buNone/>
            </a:pPr>
            <a:endParaRPr lang="en-IN" sz="1400" dirty="0"/>
          </a:p>
        </p:txBody>
      </p:sp>
      <p:pic>
        <p:nvPicPr>
          <p:cNvPr id="4" name="image1.png">
            <a:extLst>
              <a:ext uri="{FF2B5EF4-FFF2-40B4-BE49-F238E27FC236}">
                <a16:creationId xmlns:a16="http://schemas.microsoft.com/office/drawing/2014/main" id="{BAE94752-5E86-8C05-F4C0-0CF4BD3BB1D2}"/>
              </a:ext>
            </a:extLst>
          </p:cNvPr>
          <p:cNvPicPr/>
          <p:nvPr/>
        </p:nvPicPr>
        <p:blipFill>
          <a:blip r:embed="rId2"/>
          <a:stretch>
            <a:fillRect/>
          </a:stretch>
        </p:blipFill>
        <p:spPr>
          <a:xfrm>
            <a:off x="521855" y="388980"/>
            <a:ext cx="1447560" cy="914040"/>
          </a:xfrm>
          <a:prstGeom prst="rect">
            <a:avLst/>
          </a:prstGeom>
          <a:noFill/>
          <a:ln w="0">
            <a:noFill/>
          </a:ln>
        </p:spPr>
      </p:pic>
      <p:sp>
        <p:nvSpPr>
          <p:cNvPr id="5" name="TextBox 4">
            <a:extLst>
              <a:ext uri="{FF2B5EF4-FFF2-40B4-BE49-F238E27FC236}">
                <a16:creationId xmlns:a16="http://schemas.microsoft.com/office/drawing/2014/main" id="{5BEAF5E9-2953-F2D7-86B3-313D92DB8521}"/>
              </a:ext>
            </a:extLst>
          </p:cNvPr>
          <p:cNvSpPr txBox="1"/>
          <p:nvPr/>
        </p:nvSpPr>
        <p:spPr>
          <a:xfrm>
            <a:off x="457200" y="1799303"/>
            <a:ext cx="8229240" cy="3816429"/>
          </a:xfrm>
          <a:prstGeom prst="rect">
            <a:avLst/>
          </a:prstGeom>
          <a:noFill/>
        </p:spPr>
        <p:txBody>
          <a:bodyPr wrap="square" rtlCol="0">
            <a:spAutoFit/>
          </a:bodyPr>
          <a:lstStyle/>
          <a:p>
            <a:r>
              <a:rPr lang="en-IN" sz="1400" dirty="0"/>
              <a:t> =============PERFORMANCE============</a:t>
            </a:r>
          </a:p>
          <a:p>
            <a:r>
              <a:rPr lang="en-IN" sz="1400" dirty="0"/>
              <a:t>function performance(</a:t>
            </a:r>
            <a:r>
              <a:rPr lang="en-IN" sz="1400" dirty="0" err="1"/>
              <a:t>hObject</a:t>
            </a:r>
            <a:r>
              <a:rPr lang="en-IN" sz="1400" dirty="0"/>
              <a:t>,~)</a:t>
            </a:r>
          </a:p>
          <a:p>
            <a:r>
              <a:rPr lang="en-IN" sz="1400" dirty="0"/>
              <a:t>handles = </a:t>
            </a:r>
            <a:r>
              <a:rPr lang="en-IN" sz="1400" dirty="0" err="1"/>
              <a:t>guidata</a:t>
            </a:r>
            <a:r>
              <a:rPr lang="en-IN" sz="1400" dirty="0"/>
              <a:t>(</a:t>
            </a:r>
            <a:r>
              <a:rPr lang="en-IN" sz="1400" dirty="0" err="1"/>
              <a:t>hObject</a:t>
            </a:r>
            <a:r>
              <a:rPr lang="en-IN" sz="1400" dirty="0"/>
              <a:t>);</a:t>
            </a:r>
          </a:p>
          <a:p>
            <a:r>
              <a:rPr lang="en-IN" sz="1400" dirty="0" err="1"/>
              <a:t>img</a:t>
            </a:r>
            <a:r>
              <a:rPr lang="en-IN" sz="1400" dirty="0"/>
              <a:t> = </a:t>
            </a:r>
            <a:r>
              <a:rPr lang="en-IN" sz="1400" dirty="0" err="1"/>
              <a:t>handles.img</a:t>
            </a:r>
            <a:r>
              <a:rPr lang="en-IN" sz="1400" dirty="0"/>
              <a:t>;</a:t>
            </a:r>
          </a:p>
          <a:p>
            <a:r>
              <a:rPr lang="en-IN" sz="1400" dirty="0" err="1"/>
              <a:t>rx_img</a:t>
            </a:r>
            <a:r>
              <a:rPr lang="en-IN" sz="1400" dirty="0"/>
              <a:t> = </a:t>
            </a:r>
            <a:r>
              <a:rPr lang="en-IN" sz="1400" dirty="0" err="1"/>
              <a:t>handles.rx_img</a:t>
            </a:r>
            <a:r>
              <a:rPr lang="en-IN" sz="1400" dirty="0"/>
              <a:t>;</a:t>
            </a:r>
          </a:p>
          <a:p>
            <a:r>
              <a:rPr lang="en-IN" sz="1400" dirty="0" err="1"/>
              <a:t>mse_val</a:t>
            </a:r>
            <a:r>
              <a:rPr lang="en-IN" sz="1400" dirty="0"/>
              <a:t> = </a:t>
            </a:r>
            <a:r>
              <a:rPr lang="en-IN" sz="1400" dirty="0" err="1"/>
              <a:t>immse</a:t>
            </a:r>
            <a:r>
              <a:rPr lang="en-IN" sz="1400" dirty="0"/>
              <a:t>(</a:t>
            </a:r>
            <a:r>
              <a:rPr lang="en-IN" sz="1400" dirty="0" err="1"/>
              <a:t>img,rx_img</a:t>
            </a:r>
            <a:r>
              <a:rPr lang="en-IN" sz="1400" dirty="0"/>
              <a:t>);</a:t>
            </a:r>
          </a:p>
          <a:p>
            <a:r>
              <a:rPr lang="en-IN" sz="1400" dirty="0" err="1"/>
              <a:t>psnr_val</a:t>
            </a:r>
            <a:r>
              <a:rPr lang="en-IN" sz="1400" dirty="0"/>
              <a:t> = </a:t>
            </a:r>
            <a:r>
              <a:rPr lang="en-IN" sz="1400" dirty="0" err="1"/>
              <a:t>psnr</a:t>
            </a:r>
            <a:r>
              <a:rPr lang="en-IN" sz="1400" dirty="0"/>
              <a:t>(</a:t>
            </a:r>
            <a:r>
              <a:rPr lang="en-IN" sz="1400" dirty="0" err="1"/>
              <a:t>rx_img,img</a:t>
            </a:r>
            <a:r>
              <a:rPr lang="en-IN" sz="1400" dirty="0"/>
              <a:t>);</a:t>
            </a:r>
          </a:p>
          <a:p>
            <a:r>
              <a:rPr lang="en-IN" sz="1400" dirty="0"/>
              <a:t> ==================Show values===========</a:t>
            </a:r>
          </a:p>
          <a:p>
            <a:r>
              <a:rPr lang="en-IN" sz="1400" dirty="0" err="1"/>
              <a:t>msgbox</a:t>
            </a:r>
            <a:r>
              <a:rPr lang="en-IN" sz="1400" dirty="0"/>
              <a:t>(</a:t>
            </a:r>
            <a:r>
              <a:rPr lang="en-IN" sz="1400" dirty="0" err="1"/>
              <a:t>sprintf</a:t>
            </a:r>
            <a:r>
              <a:rPr lang="en-IN" sz="1400" dirty="0"/>
              <a:t>('MSE: %.4f\</a:t>
            </a:r>
            <a:r>
              <a:rPr lang="en-IN" sz="1400" dirty="0" err="1"/>
              <a:t>nPSNR</a:t>
            </a:r>
            <a:r>
              <a:rPr lang="en-IN" sz="1400" dirty="0"/>
              <a:t>: %.2f dB',</a:t>
            </a:r>
            <a:r>
              <a:rPr lang="en-IN" sz="1400" dirty="0" err="1"/>
              <a:t>mse_val,psnr_val</a:t>
            </a:r>
            <a:r>
              <a:rPr lang="en-IN" sz="1400" dirty="0"/>
              <a:t>));</a:t>
            </a:r>
          </a:p>
          <a:p>
            <a:r>
              <a:rPr lang="en-IN" sz="1400" dirty="0"/>
              <a:t>% Graph (SNR vs PSNR)</a:t>
            </a:r>
          </a:p>
          <a:p>
            <a:r>
              <a:rPr lang="en-IN" sz="1400" dirty="0" err="1"/>
              <a:t>snr_range</a:t>
            </a:r>
            <a:r>
              <a:rPr lang="en-IN" sz="1400" dirty="0"/>
              <a:t> = 0:5:30;</a:t>
            </a:r>
          </a:p>
          <a:p>
            <a:r>
              <a:rPr lang="en-IN" sz="1400" dirty="0" err="1"/>
              <a:t>psnr_vals</a:t>
            </a:r>
            <a:r>
              <a:rPr lang="en-IN" sz="1400" dirty="0"/>
              <a:t> = zeros(size(</a:t>
            </a:r>
            <a:r>
              <a:rPr lang="en-IN" sz="1400" dirty="0" err="1"/>
              <a:t>snr_range</a:t>
            </a:r>
            <a:r>
              <a:rPr lang="en-IN" sz="1400" dirty="0"/>
              <a:t>));</a:t>
            </a:r>
          </a:p>
          <a:p>
            <a:r>
              <a:rPr lang="en-IN" sz="1400" dirty="0"/>
              <a:t>for </a:t>
            </a:r>
            <a:r>
              <a:rPr lang="en-IN" sz="1400" dirty="0" err="1"/>
              <a:t>i</a:t>
            </a:r>
            <a:r>
              <a:rPr lang="en-IN" sz="1400" dirty="0"/>
              <a:t>=1:length(</a:t>
            </a:r>
            <a:r>
              <a:rPr lang="en-IN" sz="1400" dirty="0" err="1"/>
              <a:t>snr_range</a:t>
            </a:r>
            <a:r>
              <a:rPr lang="en-IN" sz="1400" dirty="0"/>
              <a:t>)</a:t>
            </a:r>
          </a:p>
          <a:p>
            <a:r>
              <a:rPr lang="en-IN" sz="1400" dirty="0"/>
              <a:t>    noisy = </a:t>
            </a:r>
            <a:r>
              <a:rPr lang="en-IN" sz="1400" dirty="0" err="1"/>
              <a:t>awgn</a:t>
            </a:r>
            <a:r>
              <a:rPr lang="en-IN" sz="1400" dirty="0"/>
              <a:t>(double(</a:t>
            </a:r>
            <a:r>
              <a:rPr lang="en-IN" sz="1400" dirty="0" err="1"/>
              <a:t>img</a:t>
            </a:r>
            <a:r>
              <a:rPr lang="en-IN" sz="1400" dirty="0"/>
              <a:t>),</a:t>
            </a:r>
            <a:r>
              <a:rPr lang="en-IN" sz="1400" dirty="0" err="1"/>
              <a:t>snr_range</a:t>
            </a:r>
            <a:r>
              <a:rPr lang="en-IN" sz="1400" dirty="0"/>
              <a:t>(</a:t>
            </a:r>
            <a:r>
              <a:rPr lang="en-IN" sz="1400" dirty="0" err="1"/>
              <a:t>i</a:t>
            </a:r>
            <a:r>
              <a:rPr lang="en-IN" sz="1400" dirty="0"/>
              <a:t>),'measured');</a:t>
            </a:r>
          </a:p>
          <a:p>
            <a:r>
              <a:rPr lang="en-IN" sz="1400" dirty="0"/>
              <a:t>    </a:t>
            </a:r>
            <a:r>
              <a:rPr lang="en-IN" sz="1400" dirty="0" err="1"/>
              <a:t>psnr_vals</a:t>
            </a:r>
            <a:r>
              <a:rPr lang="en-IN" sz="1400" dirty="0"/>
              <a:t>(</a:t>
            </a:r>
            <a:r>
              <a:rPr lang="en-IN" sz="1400" dirty="0" err="1"/>
              <a:t>i</a:t>
            </a:r>
            <a:r>
              <a:rPr lang="en-IN" sz="1400" dirty="0"/>
              <a:t>) = </a:t>
            </a:r>
            <a:r>
              <a:rPr lang="en-IN" sz="1400" dirty="0" err="1"/>
              <a:t>psnr</a:t>
            </a:r>
            <a:r>
              <a:rPr lang="en-IN" sz="1400" dirty="0"/>
              <a:t>(uint8(noisy),</a:t>
            </a:r>
            <a:r>
              <a:rPr lang="en-IN" sz="1400" dirty="0" err="1"/>
              <a:t>img</a:t>
            </a:r>
            <a:r>
              <a:rPr lang="en-IN" sz="1400" dirty="0"/>
              <a:t>);</a:t>
            </a:r>
          </a:p>
          <a:p>
            <a:r>
              <a:rPr lang="en-IN" sz="1400" dirty="0"/>
              <a:t>end</a:t>
            </a:r>
          </a:p>
          <a:p>
            <a:endParaRPr lang="en-IN" dirty="0"/>
          </a:p>
        </p:txBody>
      </p:sp>
    </p:spTree>
    <p:extLst>
      <p:ext uri="{BB962C8B-B14F-4D97-AF65-F5344CB8AC3E}">
        <p14:creationId xmlns:p14="http://schemas.microsoft.com/office/powerpoint/2010/main" val="3404176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458B-E3D4-54BA-6494-21BE35701D22}"/>
              </a:ext>
            </a:extLst>
          </p:cNvPr>
          <p:cNvSpPr>
            <a:spLocks noGrp="1"/>
          </p:cNvSpPr>
          <p:nvPr>
            <p:ph type="title"/>
          </p:nvPr>
        </p:nvSpPr>
        <p:spPr>
          <a:xfrm>
            <a:off x="457200" y="160920"/>
            <a:ext cx="8229240" cy="1142640"/>
          </a:xfrm>
        </p:spPr>
        <p:txBody>
          <a:bodyPr/>
          <a:lstStyle/>
          <a:p>
            <a:pPr algn="ctr"/>
            <a:r>
              <a:rPr lang="en-US" b="1" dirty="0"/>
              <a:t>CODE</a:t>
            </a:r>
            <a:endParaRPr lang="en-IN" b="1" dirty="0"/>
          </a:p>
        </p:txBody>
      </p:sp>
      <p:sp>
        <p:nvSpPr>
          <p:cNvPr id="3" name="Text Placeholder 2">
            <a:extLst>
              <a:ext uri="{FF2B5EF4-FFF2-40B4-BE49-F238E27FC236}">
                <a16:creationId xmlns:a16="http://schemas.microsoft.com/office/drawing/2014/main" id="{0981DEE1-1E27-7C95-C927-B5021DB42AC5}"/>
              </a:ext>
            </a:extLst>
          </p:cNvPr>
          <p:cNvSpPr>
            <a:spLocks noGrp="1"/>
          </p:cNvSpPr>
          <p:nvPr>
            <p:ph type="body"/>
          </p:nvPr>
        </p:nvSpPr>
        <p:spPr/>
        <p:txBody>
          <a:bodyPr/>
          <a:lstStyle/>
          <a:p>
            <a:pPr marL="0" indent="0">
              <a:buNone/>
            </a:pPr>
            <a:endParaRPr lang="en-US" sz="1400" dirty="0"/>
          </a:p>
        </p:txBody>
      </p:sp>
      <p:pic>
        <p:nvPicPr>
          <p:cNvPr id="4" name="image1.png">
            <a:extLst>
              <a:ext uri="{FF2B5EF4-FFF2-40B4-BE49-F238E27FC236}">
                <a16:creationId xmlns:a16="http://schemas.microsoft.com/office/drawing/2014/main" id="{D24848EA-9CDE-E59C-38DB-DA424AFE7EA4}"/>
              </a:ext>
            </a:extLst>
          </p:cNvPr>
          <p:cNvPicPr/>
          <p:nvPr/>
        </p:nvPicPr>
        <p:blipFill>
          <a:blip r:embed="rId2"/>
          <a:stretch>
            <a:fillRect/>
          </a:stretch>
        </p:blipFill>
        <p:spPr>
          <a:xfrm>
            <a:off x="521855" y="388980"/>
            <a:ext cx="1447560" cy="914040"/>
          </a:xfrm>
          <a:prstGeom prst="rect">
            <a:avLst/>
          </a:prstGeom>
          <a:noFill/>
          <a:ln w="0">
            <a:noFill/>
          </a:ln>
        </p:spPr>
      </p:pic>
      <p:sp>
        <p:nvSpPr>
          <p:cNvPr id="5" name="TextBox 4">
            <a:extLst>
              <a:ext uri="{FF2B5EF4-FFF2-40B4-BE49-F238E27FC236}">
                <a16:creationId xmlns:a16="http://schemas.microsoft.com/office/drawing/2014/main" id="{33D63E12-2928-5988-2B9F-18A44CD881B9}"/>
              </a:ext>
            </a:extLst>
          </p:cNvPr>
          <p:cNvSpPr txBox="1"/>
          <p:nvPr/>
        </p:nvSpPr>
        <p:spPr>
          <a:xfrm>
            <a:off x="457200" y="1838632"/>
            <a:ext cx="8229240" cy="2308324"/>
          </a:xfrm>
          <a:prstGeom prst="rect">
            <a:avLst/>
          </a:prstGeom>
          <a:noFill/>
        </p:spPr>
        <p:txBody>
          <a:bodyPr wrap="square" rtlCol="0">
            <a:spAutoFit/>
          </a:bodyPr>
          <a:lstStyle/>
          <a:p>
            <a:endParaRPr lang="en-IN" sz="1400" dirty="0"/>
          </a:p>
          <a:p>
            <a:r>
              <a:rPr lang="en-IN" sz="1400" dirty="0"/>
              <a:t>axes(handles.ax5);</a:t>
            </a:r>
          </a:p>
          <a:p>
            <a:r>
              <a:rPr lang="en-IN" sz="1400" dirty="0"/>
              <a:t>plot(</a:t>
            </a:r>
            <a:r>
              <a:rPr lang="en-IN" sz="1400" dirty="0" err="1"/>
              <a:t>snr_range,psnr_vals</a:t>
            </a:r>
            <a:r>
              <a:rPr lang="en-IN" sz="1400" dirty="0"/>
              <a:t>,'-o');</a:t>
            </a:r>
          </a:p>
          <a:p>
            <a:r>
              <a:rPr lang="en-IN" sz="1400" dirty="0" err="1"/>
              <a:t>xlabel</a:t>
            </a:r>
            <a:r>
              <a:rPr lang="en-IN" sz="1400" dirty="0"/>
              <a:t>('SNR');</a:t>
            </a:r>
          </a:p>
          <a:p>
            <a:r>
              <a:rPr lang="en-IN" sz="1400" dirty="0" err="1"/>
              <a:t>ylabel</a:t>
            </a:r>
            <a:r>
              <a:rPr lang="en-IN" sz="1400" dirty="0"/>
              <a:t>('PSNR');</a:t>
            </a:r>
          </a:p>
          <a:p>
            <a:r>
              <a:rPr lang="en-IN" sz="1400" dirty="0"/>
              <a:t>title('Performance Graph');</a:t>
            </a:r>
          </a:p>
          <a:p>
            <a:r>
              <a:rPr lang="en-IN" sz="1400" dirty="0" err="1"/>
              <a:t>handles.status.String</a:t>
            </a:r>
            <a:r>
              <a:rPr lang="en-IN" sz="1400" dirty="0"/>
              <a:t> = 'Performance Displayed';</a:t>
            </a:r>
          </a:p>
          <a:p>
            <a:r>
              <a:rPr lang="en-IN" sz="1400" dirty="0" err="1"/>
              <a:t>guidata</a:t>
            </a:r>
            <a:r>
              <a:rPr lang="en-IN" sz="1400" dirty="0"/>
              <a:t>(</a:t>
            </a:r>
            <a:r>
              <a:rPr lang="en-IN" sz="1400" dirty="0" err="1"/>
              <a:t>hObject,handles</a:t>
            </a:r>
            <a:r>
              <a:rPr lang="en-IN" sz="1400" dirty="0"/>
              <a:t>);</a:t>
            </a:r>
          </a:p>
          <a:p>
            <a:r>
              <a:rPr lang="en-IN" sz="1400" dirty="0"/>
              <a:t>end</a:t>
            </a:r>
          </a:p>
          <a:p>
            <a:endParaRPr lang="en-IN" dirty="0"/>
          </a:p>
        </p:txBody>
      </p:sp>
    </p:spTree>
    <p:extLst>
      <p:ext uri="{BB962C8B-B14F-4D97-AF65-F5344CB8AC3E}">
        <p14:creationId xmlns:p14="http://schemas.microsoft.com/office/powerpoint/2010/main" val="3922867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26183-3D8F-5A36-7992-D8B349D5B071}"/>
              </a:ext>
            </a:extLst>
          </p:cNvPr>
          <p:cNvSpPr>
            <a:spLocks noGrp="1"/>
          </p:cNvSpPr>
          <p:nvPr>
            <p:ph type="title"/>
          </p:nvPr>
        </p:nvSpPr>
        <p:spPr/>
        <p:txBody>
          <a:bodyPr/>
          <a:lstStyle/>
          <a:p>
            <a:pPr algn="ctr"/>
            <a:r>
              <a:rPr lang="en-US" b="1" dirty="0"/>
              <a:t>OUTPUT</a:t>
            </a:r>
            <a:endParaRPr lang="en-IN" b="1" dirty="0"/>
          </a:p>
        </p:txBody>
      </p:sp>
      <p:pic>
        <p:nvPicPr>
          <p:cNvPr id="5" name="Picture 4">
            <a:extLst>
              <a:ext uri="{FF2B5EF4-FFF2-40B4-BE49-F238E27FC236}">
                <a16:creationId xmlns:a16="http://schemas.microsoft.com/office/drawing/2014/main" id="{B52E531F-9121-2033-E8F1-93AD58D16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30960"/>
            <a:ext cx="8229240" cy="5008880"/>
          </a:xfrm>
          <a:prstGeom prst="rect">
            <a:avLst/>
          </a:prstGeom>
        </p:spPr>
      </p:pic>
      <p:pic>
        <p:nvPicPr>
          <p:cNvPr id="6" name="image1.png">
            <a:extLst>
              <a:ext uri="{FF2B5EF4-FFF2-40B4-BE49-F238E27FC236}">
                <a16:creationId xmlns:a16="http://schemas.microsoft.com/office/drawing/2014/main" id="{30E8C471-9905-4812-EA79-16ABE78E9419}"/>
              </a:ext>
            </a:extLst>
          </p:cNvPr>
          <p:cNvPicPr/>
          <p:nvPr/>
        </p:nvPicPr>
        <p:blipFill>
          <a:blip r:embed="rId3"/>
          <a:stretch>
            <a:fillRect/>
          </a:stretch>
        </p:blipFill>
        <p:spPr>
          <a:xfrm>
            <a:off x="521855" y="388980"/>
            <a:ext cx="1447560" cy="727900"/>
          </a:xfrm>
          <a:prstGeom prst="rect">
            <a:avLst/>
          </a:prstGeom>
          <a:noFill/>
          <a:ln w="0">
            <a:noFill/>
          </a:ln>
        </p:spPr>
      </p:pic>
    </p:spTree>
    <p:extLst>
      <p:ext uri="{BB962C8B-B14F-4D97-AF65-F5344CB8AC3E}">
        <p14:creationId xmlns:p14="http://schemas.microsoft.com/office/powerpoint/2010/main" val="2506244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CONCLUSION</a:t>
            </a:r>
            <a:endParaRPr lang="en-IN" dirty="0"/>
          </a:p>
        </p:txBody>
      </p:sp>
      <p:sp>
        <p:nvSpPr>
          <p:cNvPr id="3" name="Text Placeholder 2"/>
          <p:cNvSpPr>
            <a:spLocks noGrp="1"/>
          </p:cNvSpPr>
          <p:nvPr>
            <p:ph type="body"/>
          </p:nvPr>
        </p:nvSpPr>
        <p:spPr>
          <a:xfrm>
            <a:off x="457200" y="1865746"/>
            <a:ext cx="8229240" cy="3870036"/>
          </a:xfrm>
        </p:spPr>
        <p:txBody>
          <a:bodyPr/>
          <a:lstStyle/>
          <a:p>
            <a:pPr marL="285750" indent="-285750" algn="just">
              <a:buFont typeface="Arial" panose="020B0604020202020204" pitchFamily="34" charset="0"/>
              <a:buChar char="•"/>
            </a:pPr>
            <a:r>
              <a:rPr lang="en-US" altLang="en-US" sz="1800" dirty="0"/>
              <a:t>This project studied image transmission using OFDM with DWT-based carrier modulation and channel estimation.</a:t>
            </a:r>
          </a:p>
          <a:p>
            <a:pPr marL="285750" indent="-285750" algn="just">
              <a:buFont typeface="Arial" panose="020B0604020202020204" pitchFamily="34" charset="0"/>
              <a:buChar char="•"/>
            </a:pPr>
            <a:endParaRPr lang="en-US" altLang="en-US" sz="1800" dirty="0"/>
          </a:p>
          <a:p>
            <a:pPr marL="285750" indent="-285750" algn="just">
              <a:buFont typeface="Arial" panose="020B0604020202020204" pitchFamily="34" charset="0"/>
              <a:buChar char="•"/>
            </a:pPr>
            <a:r>
              <a:rPr lang="en-US" altLang="en-US" sz="1800" dirty="0"/>
              <a:t>The proposed DWT-OFDM system improves spectral efficiency and reduces Peak-to-Average Power Ratio (PAPR) compared to conventional FFT-based OFDM.</a:t>
            </a:r>
          </a:p>
          <a:p>
            <a:pPr marL="285750" indent="-285750" algn="just">
              <a:buFont typeface="Arial" panose="020B0604020202020204" pitchFamily="34" charset="0"/>
              <a:buChar char="•"/>
            </a:pPr>
            <a:endParaRPr lang="en-US" altLang="en-US" sz="1800" dirty="0"/>
          </a:p>
          <a:p>
            <a:pPr marL="285750" indent="-285750" algn="just">
              <a:buFont typeface="Arial" panose="020B0604020202020204" pitchFamily="34" charset="0"/>
              <a:buChar char="•"/>
            </a:pPr>
            <a:r>
              <a:rPr lang="en-US" altLang="en-US" sz="1800" dirty="0"/>
              <a:t>Channel estimation techniques help in reducing channel distortion and improving received image quality.</a:t>
            </a:r>
          </a:p>
          <a:p>
            <a:pPr marL="285750" indent="-285750" algn="just">
              <a:buFont typeface="Arial" panose="020B0604020202020204" pitchFamily="34" charset="0"/>
              <a:buChar char="•"/>
            </a:pPr>
            <a:endParaRPr lang="en-US" altLang="en-US" sz="1800" dirty="0"/>
          </a:p>
          <a:p>
            <a:pPr marL="285750" indent="-285750" algn="just">
              <a:buFont typeface="Arial" panose="020B0604020202020204" pitchFamily="34" charset="0"/>
              <a:buChar char="•"/>
            </a:pPr>
            <a:r>
              <a:rPr lang="en-US" altLang="en-US" sz="1800" dirty="0"/>
              <a:t>The system shows better noise resistance and efficient bandwidth utilization in wireless communication environments.</a:t>
            </a:r>
          </a:p>
          <a:p>
            <a:pPr marL="285750" indent="-285750" algn="just">
              <a:buFont typeface="Arial" panose="020B0604020202020204" pitchFamily="34" charset="0"/>
              <a:buChar char="•"/>
            </a:pPr>
            <a:endParaRPr lang="en-US" altLang="en-US" sz="1800" dirty="0"/>
          </a:p>
          <a:p>
            <a:pPr marL="285750" indent="-285750" algn="just">
              <a:buFont typeface="Arial" panose="020B0604020202020204" pitchFamily="34" charset="0"/>
              <a:buChar char="•"/>
            </a:pPr>
            <a:r>
              <a:rPr lang="en-US" altLang="en-US" sz="1800" dirty="0"/>
              <a:t>Overall, the proposed approach demonstrates that DWT-based OFDM is an effective technique for reliable multimedia transmission over wireless channels.</a:t>
            </a:r>
            <a:br>
              <a:rPr lang="en-US" sz="1800" dirty="0"/>
            </a:br>
            <a:endParaRPr lang="en-IN" sz="1800" dirty="0"/>
          </a:p>
        </p:txBody>
      </p:sp>
      <p:pic>
        <p:nvPicPr>
          <p:cNvPr id="4" name="image1.png"/>
          <p:cNvPicPr/>
          <p:nvPr/>
        </p:nvPicPr>
        <p:blipFill>
          <a:blip r:embed="rId2"/>
          <a:stretch>
            <a:fillRect/>
          </a:stretch>
        </p:blipFill>
        <p:spPr>
          <a:xfrm>
            <a:off x="457200" y="388980"/>
            <a:ext cx="1447560" cy="91404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dk1"/>
                </a:solidFill>
              </a:rPr>
              <a:t>REFERENCES</a:t>
            </a:r>
            <a:endParaRPr lang="en-IN" b="1" dirty="0"/>
          </a:p>
        </p:txBody>
      </p:sp>
      <p:sp>
        <p:nvSpPr>
          <p:cNvPr id="3" name="Text Placeholder 2"/>
          <p:cNvSpPr>
            <a:spLocks noGrp="1"/>
          </p:cNvSpPr>
          <p:nvPr>
            <p:ph type="body"/>
          </p:nvPr>
        </p:nvSpPr>
        <p:spPr>
          <a:xfrm>
            <a:off x="812569" y="1436204"/>
            <a:ext cx="7518502" cy="4645633"/>
          </a:xfrm>
        </p:spPr>
        <p:txBody>
          <a:bodyPr/>
          <a:lstStyle/>
          <a:p>
            <a:pPr marL="285750" indent="-28575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M.K Lakshmanan and H.Nikoobar, “A review of wavelets for digital wireless communication”, Journal on Wireless Personal Communication, Vol.37, no.3-4, pp.387- 420, Springer, May 2006. </a:t>
            </a:r>
          </a:p>
          <a:p>
            <a:pPr marL="285750" indent="-285750" algn="just">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1800" dirty="0" err="1">
                <a:latin typeface="Times New Roman" panose="02020603050405020304" pitchFamily="18" charset="0"/>
                <a:cs typeface="Times New Roman" panose="02020603050405020304" pitchFamily="18" charset="0"/>
              </a:rPr>
              <a:t>C.Christopoulos</a:t>
            </a:r>
            <a:r>
              <a:rPr lang="en-US" altLang="en-US" sz="1800" dirty="0">
                <a:latin typeface="Times New Roman" panose="02020603050405020304" pitchFamily="18" charset="0"/>
                <a:cs typeface="Times New Roman" panose="02020603050405020304" pitchFamily="18" charset="0"/>
              </a:rPr>
              <a:t>, A. Skodras, and T.Ebrahimi,”The JPEG2000 still image coding system: An overview”, IEEE Transaction Consumer Electron, Vol.46, no.4, pp.1103-127, Nov 2000.</a:t>
            </a:r>
          </a:p>
          <a:p>
            <a:pPr marL="285750" indent="-285750" algn="just">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Y.Li</a:t>
            </a:r>
            <a:r>
              <a:rPr lang="en-US" altLang="en-US" sz="1800" dirty="0">
                <a:latin typeface="Times New Roman" panose="02020603050405020304" pitchFamily="18" charset="0"/>
                <a:cs typeface="Times New Roman" panose="02020603050405020304" pitchFamily="18" charset="0"/>
              </a:rPr>
              <a:t> and G.L.Stueber, “Orthogonal frequency division multiplexing for wireless communication”, Springer, 2005.</a:t>
            </a:r>
          </a:p>
          <a:p>
            <a:pPr marL="285750" indent="-285750" algn="just">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S.Weinstein</a:t>
            </a:r>
            <a:r>
              <a:rPr lang="en-US" altLang="en-US" sz="1800" dirty="0">
                <a:latin typeface="Times New Roman" panose="02020603050405020304" pitchFamily="18" charset="0"/>
                <a:cs typeface="Times New Roman" panose="02020603050405020304" pitchFamily="18" charset="0"/>
              </a:rPr>
              <a:t> and P.Ebert, “Data transmission by Frequency Division Multiplexing using the Discrete Fourier Transform”, IEEE Transaction on Communication Technology, Vol.19, no.5, pp.628-634, Oct1971.</a:t>
            </a:r>
          </a:p>
          <a:p>
            <a:pPr marL="285750" indent="-285750" algn="just">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 Radhika v. Totala, K.S.Bapat, “Comparative Analysis of Watermarking in Digital Images Using DCT&amp; DWT”, International Journal of Scientific and Research Publications, Vol.3, ISSN 2250-3153, Feb 2013. </a:t>
            </a:r>
          </a:p>
          <a:p>
            <a:pPr algn="just"/>
            <a:endParaRPr lang="en-US" altLang="en-US" sz="1800" dirty="0">
              <a:latin typeface="Times New Roman" panose="02020603050405020304" pitchFamily="18" charset="0"/>
              <a:cs typeface="Times New Roman" panose="02020603050405020304" pitchFamily="18" charset="0"/>
            </a:endParaRPr>
          </a:p>
        </p:txBody>
      </p:sp>
      <p:pic>
        <p:nvPicPr>
          <p:cNvPr id="5" name="image1.png"/>
          <p:cNvPicPr/>
          <p:nvPr/>
        </p:nvPicPr>
        <p:blipFill>
          <a:blip r:embed="rId2"/>
          <a:stretch>
            <a:fillRect/>
          </a:stretch>
        </p:blipFill>
        <p:spPr>
          <a:xfrm>
            <a:off x="457200" y="293564"/>
            <a:ext cx="1447560" cy="914040"/>
          </a:xfrm>
          <a:prstGeom prst="rect">
            <a:avLst/>
          </a:prstGeom>
          <a:noFill/>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126" y="274680"/>
            <a:ext cx="8229240" cy="1142640"/>
          </a:xfrm>
        </p:spPr>
        <p:txBody>
          <a:bodyPr/>
          <a:lstStyle/>
          <a:p>
            <a:pPr algn="ctr"/>
            <a:r>
              <a:rPr lang="en-US" b="1" dirty="0">
                <a:solidFill>
                  <a:schemeClr val="dk1"/>
                </a:solidFill>
                <a:sym typeface="+mn-ea"/>
              </a:rPr>
              <a:t>REFERENCES</a:t>
            </a:r>
            <a:endParaRPr lang="en-US" b="1" dirty="0"/>
          </a:p>
        </p:txBody>
      </p:sp>
      <p:sp>
        <p:nvSpPr>
          <p:cNvPr id="3" name="Text Placeholder 2"/>
          <p:cNvSpPr>
            <a:spLocks noGrp="1"/>
          </p:cNvSpPr>
          <p:nvPr>
            <p:ph type="body"/>
          </p:nvPr>
        </p:nvSpPr>
        <p:spPr/>
        <p:txBody>
          <a:bodyPr/>
          <a:lstStyle/>
          <a:p>
            <a:endParaRPr lang="en-US" dirty="0"/>
          </a:p>
          <a:p>
            <a:endParaRPr lang="en-US" dirty="0"/>
          </a:p>
          <a:p>
            <a:endParaRPr lang="en-US" dirty="0"/>
          </a:p>
          <a:p>
            <a:endParaRPr lang="en-US" dirty="0"/>
          </a:p>
          <a:p>
            <a:pPr marL="0" indent="0">
              <a:buNone/>
            </a:pPr>
            <a:r>
              <a:rPr lang="en-US" dirty="0"/>
              <a:t>               </a:t>
            </a:r>
          </a:p>
        </p:txBody>
      </p:sp>
      <p:sp>
        <p:nvSpPr>
          <p:cNvPr id="4" name="Text Box 3"/>
          <p:cNvSpPr txBox="1"/>
          <p:nvPr/>
        </p:nvSpPr>
        <p:spPr>
          <a:xfrm>
            <a:off x="653292" y="1531620"/>
            <a:ext cx="8324215" cy="4524315"/>
          </a:xfrm>
          <a:prstGeom prst="rect">
            <a:avLst/>
          </a:prstGeom>
          <a:noFill/>
        </p:spPr>
        <p:txBody>
          <a:bodyPr wrap="square" rtlCol="0">
            <a:spAutoFit/>
          </a:bodyPr>
          <a:lstStyle/>
          <a:p>
            <a:pPr marL="285750" indent="-285750">
              <a:buFont typeface="Arial" panose="020B0604020202020204" pitchFamily="34" charset="0"/>
              <a:buChar char="•"/>
            </a:pPr>
            <a:r>
              <a:rPr lang="en-US" altLang="en-US" dirty="0"/>
              <a:t>M. </a:t>
            </a:r>
            <a:r>
              <a:rPr lang="en-US" altLang="en-US" dirty="0" err="1"/>
              <a:t>Mozammel</a:t>
            </a:r>
            <a:r>
              <a:rPr lang="en-US" altLang="en-US" dirty="0"/>
              <a:t> Hoque Chowdhury and Amina Khatun, “Image Compression Using Discrete Wavelet Transform”, IJCSI International Journal of Computer Science Issues, Vol.9, no.1, Jul 2012.</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a:t>
            </a:r>
            <a:r>
              <a:rPr lang="en-US" altLang="en-US" dirty="0" err="1"/>
              <a:t>Y.Li</a:t>
            </a:r>
            <a:r>
              <a:rPr lang="en-US" altLang="en-US" dirty="0"/>
              <a:t>, “Pilot-symbol-aided channel estimation for OFDM in Wireless systems”, IEEE </a:t>
            </a:r>
            <a:r>
              <a:rPr lang="en-US" altLang="en-US" dirty="0" err="1"/>
              <a:t>Trans.Veh.Techn</a:t>
            </a:r>
            <a:r>
              <a:rPr lang="en-US" altLang="en-US" dirty="0"/>
              <a:t>, Vol.49, no.4, pp.1207-215, Jun 2000. </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Ashwani Sharma, </a:t>
            </a:r>
            <a:r>
              <a:rPr lang="en-US" altLang="en-US" dirty="0" err="1"/>
              <a:t>Swades</a:t>
            </a:r>
            <a:r>
              <a:rPr lang="en-US" altLang="en-US" dirty="0"/>
              <a:t> De, and Hari Mohan </a:t>
            </a:r>
            <a:r>
              <a:rPr lang="en-US" altLang="en-US" dirty="0" err="1"/>
              <a:t>Gupta,”Energy</a:t>
            </a:r>
            <a:r>
              <a:rPr lang="en-US" altLang="en-US" dirty="0"/>
              <a:t> Efficient transmission of DWT image over OFDM fading channel, Communications Systems and Networks (COMSNETS, 2011 Third International Conference on, Vol.; no., pp.1, 7,4-8, Jan 2011.</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a:t>
            </a:r>
            <a:r>
              <a:rPr lang="en-US" altLang="en-US" dirty="0" err="1"/>
              <a:t>J.McEliece</a:t>
            </a:r>
            <a:r>
              <a:rPr lang="en-US" altLang="en-US" dirty="0"/>
              <a:t> and </a:t>
            </a:r>
            <a:r>
              <a:rPr lang="en-US" altLang="en-US" dirty="0" err="1"/>
              <a:t>W.E.Stark</a:t>
            </a:r>
            <a:r>
              <a:rPr lang="en-US" altLang="en-US" dirty="0"/>
              <a:t>, “Channels with block interference”, IEEE Transaction information .Theory, Vol.30, no.1, pp.44-53, Jan 1984. </a:t>
            </a:r>
          </a:p>
          <a:p>
            <a:pPr marL="285750" indent="-285750">
              <a:buFont typeface="Arial" panose="020B0604020202020204" pitchFamily="34" charset="0"/>
              <a:buChar char="•"/>
            </a:pPr>
            <a:endParaRPr lang="en-US" altLang="en-US" dirty="0"/>
          </a:p>
          <a:p>
            <a:pPr marL="285750" indent="-285750">
              <a:buFont typeface="Arial" panose="020B0604020202020204" pitchFamily="34" charset="0"/>
              <a:buChar char="•"/>
            </a:pPr>
            <a:r>
              <a:rPr lang="en-US" altLang="en-US" dirty="0"/>
              <a:t> </a:t>
            </a:r>
            <a:r>
              <a:rPr lang="en-US" altLang="en-US" dirty="0" err="1"/>
              <a:t>R.Knopp</a:t>
            </a:r>
            <a:r>
              <a:rPr lang="en-US" altLang="en-US" dirty="0"/>
              <a:t> and </a:t>
            </a:r>
            <a:r>
              <a:rPr lang="en-US" altLang="en-US" dirty="0" err="1"/>
              <a:t>P.A.Humblet</a:t>
            </a:r>
            <a:r>
              <a:rPr lang="en-US" altLang="en-US" dirty="0"/>
              <a:t>, “On coding for block fading channels”, IEEE </a:t>
            </a:r>
            <a:r>
              <a:rPr lang="en-US" altLang="en-US" dirty="0" err="1"/>
              <a:t>Trans.info.Theory</a:t>
            </a:r>
            <a:r>
              <a:rPr lang="en-US" altLang="en-US" dirty="0"/>
              <a:t>, Vol.46, no.1, pp.189-205, Jan 2000.</a:t>
            </a:r>
          </a:p>
        </p:txBody>
      </p:sp>
      <p:pic>
        <p:nvPicPr>
          <p:cNvPr id="5" name="image1.png">
            <a:extLst>
              <a:ext uri="{FF2B5EF4-FFF2-40B4-BE49-F238E27FC236}">
                <a16:creationId xmlns:a16="http://schemas.microsoft.com/office/drawing/2014/main" id="{54A0E5AA-81B4-1E49-E08B-9626A21CCE1C}"/>
              </a:ext>
            </a:extLst>
          </p:cNvPr>
          <p:cNvPicPr/>
          <p:nvPr/>
        </p:nvPicPr>
        <p:blipFill>
          <a:blip r:embed="rId2"/>
          <a:stretch>
            <a:fillRect/>
          </a:stretch>
        </p:blipFill>
        <p:spPr>
          <a:xfrm>
            <a:off x="457200" y="388980"/>
            <a:ext cx="1447560" cy="91404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TotalTime>
  <Words>3136</Words>
  <Application>Microsoft Office PowerPoint</Application>
  <PresentationFormat>On-screen Show (4:3)</PresentationFormat>
  <Paragraphs>341</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Book Antiqua</vt:lpstr>
      <vt:lpstr>Calibri</vt:lpstr>
      <vt:lpstr>Symbol</vt:lpstr>
      <vt:lpstr>Times New Roman</vt:lpstr>
      <vt:lpstr>Wingdings</vt:lpstr>
      <vt:lpstr>Office Theme</vt:lpstr>
      <vt:lpstr>SRM INSTITUTE OF SCIENCE AND TECHNOLOGY Ramapuram , Chennai – 600 089 FACULTY OF ENGINEERING AND TECHNOLOGY DEPARTMENT OF ECE </vt:lpstr>
      <vt:lpstr>AGENDA</vt:lpstr>
      <vt:lpstr>ABSTRACT</vt:lpstr>
      <vt:lpstr>INTRODUCTION</vt:lpstr>
      <vt:lpstr>OBJECTIVES</vt:lpstr>
      <vt:lpstr>                LITERATURE  SURVEY</vt:lpstr>
      <vt:lpstr>                LITERATURE  SURVEY</vt:lpstr>
      <vt:lpstr>METHODOLOGY</vt:lpstr>
      <vt:lpstr>                   METHODOLOGY</vt:lpstr>
      <vt:lpstr>METHODOLOGY</vt:lpstr>
      <vt:lpstr>                 EXISTING SYSTEMS</vt:lpstr>
      <vt:lpstr>             PROPOSED SYSTEM</vt:lpstr>
      <vt:lpstr>TOOLS REQUIRED</vt:lpstr>
      <vt:lpstr>CODE</vt:lpstr>
      <vt:lpstr>CODE</vt:lpstr>
      <vt:lpstr>CODE</vt:lpstr>
      <vt:lpstr>CODE</vt:lpstr>
      <vt:lpstr>CODE</vt:lpstr>
      <vt:lpstr>CODE</vt:lpstr>
      <vt:lpstr>CODE</vt:lpstr>
      <vt:lpstr>CODE</vt:lpstr>
      <vt:lpstr>CODE</vt:lpstr>
      <vt:lpstr>CODE</vt:lpstr>
      <vt:lpstr>CODE</vt:lpstr>
      <vt:lpstr>OUTPUT</vt:lpstr>
      <vt:lpstr>                  CONCLUSION</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Campus , Chennai – 600 089 DEPARTMENT OF COMPUTER SCIENCE AND ENGINEERING</dc:title>
  <dc:creator>DELL</dc:creator>
  <cp:lastModifiedBy>Tharun Gutta</cp:lastModifiedBy>
  <cp:revision>79</cp:revision>
  <dcterms:created xsi:type="dcterms:W3CDTF">2023-07-26T03:49:00Z</dcterms:created>
  <dcterms:modified xsi:type="dcterms:W3CDTF">2026-05-08T15:02:46Z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11</vt:i4>
  </property>
  <property fmtid="{D5CDD505-2E9C-101B-9397-08002B2CF9AE}" pid="4" name="ICV">
    <vt:lpwstr>815B268DAD764EF096BC6613E5BB9839_13</vt:lpwstr>
  </property>
  <property fmtid="{D5CDD505-2E9C-101B-9397-08002B2CF9AE}" pid="5" name="KSOProductBuildVer">
    <vt:lpwstr>1033-12.2.0.23196</vt:lpwstr>
  </property>
</Properties>
</file>